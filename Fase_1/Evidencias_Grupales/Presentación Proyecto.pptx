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libri (MS) Bold" charset="1" panose="020F0702030404030204"/>
      <p:regular r:id="rId34"/>
    </p:embeddedFont>
    <p:embeddedFont>
      <p:font typeface="Calibri (MS)" charset="1" panose="020F0502020204030204"/>
      <p:regular r:id="rId35"/>
    </p:embeddedFont>
    <p:embeddedFont>
      <p:font typeface="Calibri (MS) Italics" charset="1" panose="020F05020202040A0204"/>
      <p:regular r:id="rId45"/>
    </p:embeddedFont>
    <p:embeddedFont>
      <p:font typeface="Telegraf Bold" charset="1" panose="0000080000000000000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58" Target="fonts/font58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Presentarse, nombrar la empresa y anunciar que la exposición dura X minutos.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Insistir en que ninguna herramienta es mala: el problema es la dispersión entre ellas.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Aclarar que el rango de ahorro depende del tipo de licencia y del contrato vigente.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2811780"/>
            <a:ext cx="960120" cy="96012"/>
            <a:chOff x="0" y="0"/>
            <a:chExt cx="1280160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3223260"/>
            <a:ext cx="9513917" cy="3230166"/>
            <a:chOff x="0" y="0"/>
            <a:chExt cx="12685223" cy="43068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85223" cy="4306888"/>
            </a:xfrm>
            <a:custGeom>
              <a:avLst/>
              <a:gdLst/>
              <a:ahLst/>
              <a:cxnLst/>
              <a:rect r="r" b="b" t="t" l="l"/>
              <a:pathLst>
                <a:path h="4306888" w="12685223">
                  <a:moveTo>
                    <a:pt x="0" y="0"/>
                  </a:moveTo>
                  <a:lnTo>
                    <a:pt x="12685223" y="0"/>
                  </a:lnTo>
                  <a:lnTo>
                    <a:pt x="12685223" y="4306888"/>
                  </a:lnTo>
                  <a:lnTo>
                    <a:pt x="0" y="4306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69" t="0" r="-2369" b="-29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12685223" cy="4449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b="true" sz="6399" spc="-1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Plataforma Integrada de Gestión GGH</a:t>
              </a:r>
            </a:p>
            <a:p>
              <a:pPr algn="l">
                <a:lnSpc>
                  <a:spcPts val="7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349240"/>
            <a:ext cx="12344400" cy="617220"/>
            <a:chOff x="0" y="0"/>
            <a:chExt cx="16459200" cy="822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459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8B3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</a:t>
              </a:r>
              <a:r>
                <a:rPr lang="en-US" sz="2700">
                  <a:solidFill>
                    <a:srgbClr val="F8B3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con SAP Business One.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7891928"/>
            <a:ext cx="10972800" cy="1234440"/>
            <a:chOff x="0" y="0"/>
            <a:chExt cx="1463040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4630400" cy="1798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3"/>
                </a:lnSpc>
              </a:pPr>
              <a:r>
                <a:rPr lang="en-US" sz="2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Matias Orellana</a:t>
              </a:r>
              <a:r>
                <a:rPr lang="en-US" sz="2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· Millaray Esposito  ·  Alexssander Lopez</a:t>
              </a:r>
            </a:p>
            <a:p>
              <a:pPr algn="l">
                <a:lnSpc>
                  <a:spcPts val="3863"/>
                </a:lnSpc>
              </a:pPr>
              <a:r>
                <a:rPr lang="en-US" sz="2299" b="true">
                  <a:solidFill>
                    <a:srgbClr val="9FB3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Ingenieria en Informática</a:t>
              </a:r>
              <a:r>
                <a:rPr lang="en-US" sz="2299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·  Sede Plaza Norte  ·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44493" y="2943915"/>
            <a:ext cx="7215975" cy="2405325"/>
          </a:xfrm>
          <a:custGeom>
            <a:avLst/>
            <a:gdLst/>
            <a:ahLst/>
            <a:cxnLst/>
            <a:rect r="r" b="b" t="t" l="l"/>
            <a:pathLst>
              <a:path h="2405325" w="7215975">
                <a:moveTo>
                  <a:pt x="0" y="0"/>
                </a:moveTo>
                <a:lnTo>
                  <a:pt x="7215975" y="0"/>
                </a:lnTo>
                <a:lnTo>
                  <a:pt x="7215975" y="2405325"/>
                </a:lnTo>
                <a:lnTo>
                  <a:pt x="0" y="24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17453" y="556249"/>
            <a:ext cx="12233635" cy="643532"/>
            <a:chOff x="0" y="0"/>
            <a:chExt cx="16459200" cy="8658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0" cy="865812"/>
            </a:xfrm>
            <a:custGeom>
              <a:avLst/>
              <a:gdLst/>
              <a:ahLst/>
              <a:cxnLst/>
              <a:rect r="r" b="b" t="t" l="l"/>
              <a:pathLst>
                <a:path h="865812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65812"/>
                  </a:lnTo>
                  <a:lnTo>
                    <a:pt x="0" y="8658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887" r="0" b="-3179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6459200" cy="942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>
                  <a:solidFill>
                    <a:srgbClr val="F8B3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Propuesta</a:t>
              </a:r>
              <a:r>
                <a:rPr lang="en-US" sz="3199">
                  <a:solidFill>
                    <a:srgbClr val="F8B3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Proyecto APT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850392"/>
            <a:chOff x="0" y="0"/>
            <a:chExt cx="22183344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215" r="0" b="-3312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229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vamos a presentar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55648"/>
            <a:ext cx="754380" cy="68580"/>
            <a:chOff x="0" y="0"/>
            <a:chExt cx="1005840" cy="91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3435" y="2596515"/>
            <a:ext cx="8063484" cy="1774698"/>
            <a:chOff x="0" y="0"/>
            <a:chExt cx="10751312" cy="23662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51185" cy="2366264"/>
            </a:xfrm>
            <a:custGeom>
              <a:avLst/>
              <a:gdLst/>
              <a:ahLst/>
              <a:cxnLst/>
              <a:rect r="r" b="b" t="t" l="l"/>
              <a:pathLst>
                <a:path h="2366264" w="1075118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603357" y="0"/>
                  </a:lnTo>
                  <a:cubicBezTo>
                    <a:pt x="10685018" y="0"/>
                    <a:pt x="10751185" y="66167"/>
                    <a:pt x="10751185" y="147828"/>
                  </a:cubicBezTo>
                  <a:lnTo>
                    <a:pt x="10751185" y="2218309"/>
                  </a:lnTo>
                  <a:cubicBezTo>
                    <a:pt x="10751185" y="2299970"/>
                    <a:pt x="10685018" y="2366264"/>
                    <a:pt x="10603357" y="2366264"/>
                  </a:cubicBezTo>
                  <a:lnTo>
                    <a:pt x="147828" y="2366264"/>
                  </a:lnTo>
                  <a:cubicBezTo>
                    <a:pt x="66167" y="2366264"/>
                    <a:pt x="0" y="2300097"/>
                    <a:pt x="0" y="221830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07008" y="2935224"/>
            <a:ext cx="1097280" cy="685800"/>
            <a:chOff x="0" y="0"/>
            <a:chExt cx="146304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4630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00300" y="2907792"/>
            <a:ext cx="6124194" cy="548640"/>
            <a:chOff x="0" y="0"/>
            <a:chExt cx="816559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y problemática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0300" y="3511296"/>
            <a:ext cx="6124194" cy="576072"/>
            <a:chOff x="0" y="0"/>
            <a:chExt cx="8165592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65592" cy="768096"/>
            </a:xfrm>
            <a:custGeom>
              <a:avLst/>
              <a:gdLst/>
              <a:ahLst/>
              <a:cxnLst/>
              <a:rect r="r" b="b" t="t" l="l"/>
              <a:pathLst>
                <a:path h="768096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44" r="0" b="-1571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655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Situación actual, impacto y licenciamiento.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06509" y="2596515"/>
            <a:ext cx="8063484" cy="1774698"/>
            <a:chOff x="0" y="0"/>
            <a:chExt cx="10751312" cy="23662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1185" cy="2366264"/>
            </a:xfrm>
            <a:custGeom>
              <a:avLst/>
              <a:gdLst/>
              <a:ahLst/>
              <a:cxnLst/>
              <a:rect r="r" b="b" t="t" l="l"/>
              <a:pathLst>
                <a:path h="2366264" w="1075118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603357" y="0"/>
                  </a:lnTo>
                  <a:cubicBezTo>
                    <a:pt x="10685018" y="0"/>
                    <a:pt x="10751185" y="66167"/>
                    <a:pt x="10751185" y="147828"/>
                  </a:cubicBezTo>
                  <a:lnTo>
                    <a:pt x="10751185" y="2218309"/>
                  </a:lnTo>
                  <a:cubicBezTo>
                    <a:pt x="10751185" y="2299970"/>
                    <a:pt x="10685018" y="2366264"/>
                    <a:pt x="10603357" y="2366264"/>
                  </a:cubicBezTo>
                  <a:lnTo>
                    <a:pt x="147828" y="2366264"/>
                  </a:lnTo>
                  <a:cubicBezTo>
                    <a:pt x="66167" y="2366264"/>
                    <a:pt x="0" y="2300097"/>
                    <a:pt x="0" y="221830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00082" y="2935224"/>
            <a:ext cx="1097280" cy="685800"/>
            <a:chOff x="0" y="0"/>
            <a:chExt cx="146304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4630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93374" y="2907792"/>
            <a:ext cx="6124194" cy="548640"/>
            <a:chOff x="0" y="0"/>
            <a:chExt cx="8165592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ropuesta de solución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93374" y="3511296"/>
            <a:ext cx="6124194" cy="576072"/>
            <a:chOff x="0" y="0"/>
            <a:chExt cx="8165592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65592" cy="768096"/>
            </a:xfrm>
            <a:custGeom>
              <a:avLst/>
              <a:gdLst/>
              <a:ahLst/>
              <a:cxnLst/>
              <a:rect r="r" b="b" t="t" l="l"/>
              <a:pathLst>
                <a:path h="768096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44" r="0" b="-15714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1655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</a:t>
              </a: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orma y módulos seleccionados.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3435" y="4653915"/>
            <a:ext cx="8063484" cy="1774698"/>
            <a:chOff x="0" y="0"/>
            <a:chExt cx="10751312" cy="23662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51185" cy="2366264"/>
            </a:xfrm>
            <a:custGeom>
              <a:avLst/>
              <a:gdLst/>
              <a:ahLst/>
              <a:cxnLst/>
              <a:rect r="r" b="b" t="t" l="l"/>
              <a:pathLst>
                <a:path h="2366264" w="1075118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603357" y="0"/>
                  </a:lnTo>
                  <a:cubicBezTo>
                    <a:pt x="10685018" y="0"/>
                    <a:pt x="10751185" y="66167"/>
                    <a:pt x="10751185" y="147828"/>
                  </a:cubicBezTo>
                  <a:lnTo>
                    <a:pt x="10751185" y="2218309"/>
                  </a:lnTo>
                  <a:cubicBezTo>
                    <a:pt x="10751185" y="2299970"/>
                    <a:pt x="10685018" y="2366264"/>
                    <a:pt x="10603357" y="2366264"/>
                  </a:cubicBezTo>
                  <a:lnTo>
                    <a:pt x="147828" y="2366264"/>
                  </a:lnTo>
                  <a:cubicBezTo>
                    <a:pt x="66167" y="2366264"/>
                    <a:pt x="0" y="2300097"/>
                    <a:pt x="0" y="221830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07008" y="4992624"/>
            <a:ext cx="1097280" cy="685800"/>
            <a:chOff x="0" y="0"/>
            <a:chExt cx="146304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14630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400300" y="4965192"/>
            <a:ext cx="6124194" cy="548640"/>
            <a:chOff x="0" y="0"/>
            <a:chExt cx="8165592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tecnológico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400300" y="5568696"/>
            <a:ext cx="6124194" cy="576072"/>
            <a:chOff x="0" y="0"/>
            <a:chExt cx="8165592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65592" cy="768096"/>
            </a:xfrm>
            <a:custGeom>
              <a:avLst/>
              <a:gdLst/>
              <a:ahLst/>
              <a:cxnLst/>
              <a:rect r="r" b="b" t="t" l="l"/>
              <a:pathLst>
                <a:path h="768096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44" r="0" b="-15714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1655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Tecnologías, integración con SAP y arquitectura.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06509" y="4653915"/>
            <a:ext cx="8063484" cy="1774698"/>
            <a:chOff x="0" y="0"/>
            <a:chExt cx="10751312" cy="23662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51185" cy="2366264"/>
            </a:xfrm>
            <a:custGeom>
              <a:avLst/>
              <a:gdLst/>
              <a:ahLst/>
              <a:cxnLst/>
              <a:rect r="r" b="b" t="t" l="l"/>
              <a:pathLst>
                <a:path h="2366264" w="1075118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603357" y="0"/>
                  </a:lnTo>
                  <a:cubicBezTo>
                    <a:pt x="10685018" y="0"/>
                    <a:pt x="10751185" y="66167"/>
                    <a:pt x="10751185" y="147828"/>
                  </a:cubicBezTo>
                  <a:lnTo>
                    <a:pt x="10751185" y="2218309"/>
                  </a:lnTo>
                  <a:cubicBezTo>
                    <a:pt x="10751185" y="2299970"/>
                    <a:pt x="10685018" y="2366264"/>
                    <a:pt x="10603357" y="2366264"/>
                  </a:cubicBezTo>
                  <a:lnTo>
                    <a:pt x="147828" y="2366264"/>
                  </a:lnTo>
                  <a:cubicBezTo>
                    <a:pt x="66167" y="2366264"/>
                    <a:pt x="0" y="2300097"/>
                    <a:pt x="0" y="221830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800082" y="4992624"/>
            <a:ext cx="1097280" cy="685800"/>
            <a:chOff x="0" y="0"/>
            <a:chExt cx="146304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14630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93374" y="4965192"/>
            <a:ext cx="6124194" cy="548640"/>
            <a:chOff x="0" y="0"/>
            <a:chExt cx="8165592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y perfil profesional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93374" y="5568696"/>
            <a:ext cx="6124194" cy="576072"/>
            <a:chOff x="0" y="0"/>
            <a:chExt cx="8165592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65592" cy="768096"/>
            </a:xfrm>
            <a:custGeom>
              <a:avLst/>
              <a:gdLst/>
              <a:ahLst/>
              <a:cxnLst/>
              <a:rect r="r" b="b" t="t" l="l"/>
              <a:pathLst>
                <a:path h="768096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44" r="0" b="-15714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1655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Objetivos, competencias e intereses profesionales.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3435" y="6711315"/>
            <a:ext cx="8063484" cy="1774698"/>
            <a:chOff x="0" y="0"/>
            <a:chExt cx="10751312" cy="23662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51185" cy="2366264"/>
            </a:xfrm>
            <a:custGeom>
              <a:avLst/>
              <a:gdLst/>
              <a:ahLst/>
              <a:cxnLst/>
              <a:rect r="r" b="b" t="t" l="l"/>
              <a:pathLst>
                <a:path h="2366264" w="1075118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603357" y="0"/>
                  </a:lnTo>
                  <a:cubicBezTo>
                    <a:pt x="10685018" y="0"/>
                    <a:pt x="10751185" y="66167"/>
                    <a:pt x="10751185" y="147828"/>
                  </a:cubicBezTo>
                  <a:lnTo>
                    <a:pt x="10751185" y="2218309"/>
                  </a:lnTo>
                  <a:cubicBezTo>
                    <a:pt x="10751185" y="2299970"/>
                    <a:pt x="10685018" y="2366264"/>
                    <a:pt x="10603357" y="2366264"/>
                  </a:cubicBezTo>
                  <a:lnTo>
                    <a:pt x="147828" y="2366264"/>
                  </a:lnTo>
                  <a:cubicBezTo>
                    <a:pt x="66167" y="2366264"/>
                    <a:pt x="0" y="2300097"/>
                    <a:pt x="0" y="221830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07008" y="7050024"/>
            <a:ext cx="1097280" cy="685800"/>
            <a:chOff x="0" y="0"/>
            <a:chExt cx="146304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14630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400300" y="7022592"/>
            <a:ext cx="6124194" cy="548640"/>
            <a:chOff x="0" y="0"/>
            <a:chExt cx="8165592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y planificación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400300" y="7626096"/>
            <a:ext cx="6124194" cy="576072"/>
            <a:chOff x="0" y="0"/>
            <a:chExt cx="8165592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65592" cy="768096"/>
            </a:xfrm>
            <a:custGeom>
              <a:avLst/>
              <a:gdLst/>
              <a:ahLst/>
              <a:cxnLst/>
              <a:rect r="r" b="b" t="t" l="l"/>
              <a:pathLst>
                <a:path h="768096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44" r="0" b="-15714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1655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Scrum, responsabilidades, Carta Gantt e hitos.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06509" y="6711315"/>
            <a:ext cx="8063484" cy="1774698"/>
            <a:chOff x="0" y="0"/>
            <a:chExt cx="10751312" cy="23662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51185" cy="2366264"/>
            </a:xfrm>
            <a:custGeom>
              <a:avLst/>
              <a:gdLst/>
              <a:ahLst/>
              <a:cxnLst/>
              <a:rect r="r" b="b" t="t" l="l"/>
              <a:pathLst>
                <a:path h="2366264" w="1075118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603357" y="0"/>
                  </a:lnTo>
                  <a:cubicBezTo>
                    <a:pt x="10685018" y="0"/>
                    <a:pt x="10751185" y="66167"/>
                    <a:pt x="10751185" y="147828"/>
                  </a:cubicBezTo>
                  <a:lnTo>
                    <a:pt x="10751185" y="2218309"/>
                  </a:lnTo>
                  <a:cubicBezTo>
                    <a:pt x="10751185" y="2299970"/>
                    <a:pt x="10685018" y="2366264"/>
                    <a:pt x="10603357" y="2366264"/>
                  </a:cubicBezTo>
                  <a:lnTo>
                    <a:pt x="147828" y="2366264"/>
                  </a:lnTo>
                  <a:cubicBezTo>
                    <a:pt x="66167" y="2366264"/>
                    <a:pt x="0" y="2300097"/>
                    <a:pt x="0" y="221830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800082" y="7050024"/>
            <a:ext cx="1097280" cy="685800"/>
            <a:chOff x="0" y="0"/>
            <a:chExt cx="146304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76200"/>
              <a:ext cx="14630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993374" y="7022592"/>
            <a:ext cx="6124194" cy="548640"/>
            <a:chOff x="0" y="0"/>
            <a:chExt cx="8165592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Factibilidad y resultados esperados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993374" y="7626096"/>
            <a:ext cx="6124194" cy="576072"/>
            <a:chOff x="0" y="0"/>
            <a:chExt cx="8165592" cy="7680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65592" cy="768096"/>
            </a:xfrm>
            <a:custGeom>
              <a:avLst/>
              <a:gdLst/>
              <a:ahLst/>
              <a:cxnLst/>
              <a:rect r="r" b="b" t="t" l="l"/>
              <a:pathLst>
                <a:path h="768096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44" r="0" b="-15714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165592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Riesgos, medidas, evidencias, conclusión y referencias.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8751" y="2449058"/>
            <a:ext cx="6092916" cy="1097280"/>
            <a:chOff x="0" y="0"/>
            <a:chExt cx="8123888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3888" cy="1463040"/>
            </a:xfrm>
            <a:custGeom>
              <a:avLst/>
              <a:gdLst/>
              <a:ahLst/>
              <a:cxnLst/>
              <a:rect r="r" b="b" t="t" l="l"/>
              <a:pathLst>
                <a:path h="1463040" w="8123888">
                  <a:moveTo>
                    <a:pt x="0" y="0"/>
                  </a:moveTo>
                  <a:lnTo>
                    <a:pt x="8123888" y="0"/>
                  </a:lnTo>
                  <a:lnTo>
                    <a:pt x="81238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-113858" b="-1813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8123888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Problemática actual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8751" y="4356783"/>
            <a:ext cx="9211349" cy="2861853"/>
            <a:chOff x="0" y="0"/>
            <a:chExt cx="12281799" cy="38158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81799" cy="3815804"/>
            </a:xfrm>
            <a:custGeom>
              <a:avLst/>
              <a:gdLst/>
              <a:ahLst/>
              <a:cxnLst/>
              <a:rect r="r" b="b" t="t" l="l"/>
              <a:pathLst>
                <a:path h="3815804" w="12281799">
                  <a:moveTo>
                    <a:pt x="0" y="0"/>
                  </a:moveTo>
                  <a:lnTo>
                    <a:pt x="12281799" y="0"/>
                  </a:lnTo>
                  <a:lnTo>
                    <a:pt x="12281799" y="3815804"/>
                  </a:lnTo>
                  <a:lnTo>
                    <a:pt x="0" y="3815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734" r="-41458" b="-69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281799" cy="3872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Ferretería Marsella (GGH), un mismo proceso se ejecuta hoy repartido entre cuatro herramientas: SAP Business One, planillas Excel, correo electrónico y pasos manuales. Ninguna de ellas contiene la operación completa, de modo que nadie puede seguirla de principio a fin.</a:t>
              </a:r>
            </a:p>
            <a:p>
              <a:pPr algn="just">
                <a:lnSpc>
                  <a:spcPts val="3120"/>
                </a:lnSpc>
              </a:pPr>
            </a:p>
            <a:p>
              <a:pPr algn="just">
                <a:lnSpc>
                  <a:spcPts val="31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8751" y="3870997"/>
            <a:ext cx="9211349" cy="161936"/>
            <a:chOff x="0" y="0"/>
            <a:chExt cx="1005840" cy="176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7683"/>
            </a:xfrm>
            <a:custGeom>
              <a:avLst/>
              <a:gdLst/>
              <a:ahLst/>
              <a:cxnLst/>
              <a:rect r="r" b="b" t="t" l="l"/>
              <a:pathLst>
                <a:path h="17683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7683"/>
                  </a:lnTo>
                  <a:lnTo>
                    <a:pt x="0" y="17683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472274" y="2944571"/>
            <a:ext cx="7097826" cy="4071227"/>
            <a:chOff x="0" y="0"/>
            <a:chExt cx="7981950" cy="4578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0" t="-3261" r="0" b="-326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685270"/>
            <a:ext cx="5486400" cy="2057400"/>
            <a:chOff x="0" y="0"/>
            <a:chExt cx="731520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731520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 proceso, cuatro herramientas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2485" y="1463802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83344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paso vive en un sistema distinto y nada queda trazado de punta a punta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733675"/>
            <a:ext cx="3849243" cy="4545330"/>
            <a:chOff x="0" y="0"/>
            <a:chExt cx="5132324" cy="6060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32324" cy="6060440"/>
            </a:xfrm>
            <a:custGeom>
              <a:avLst/>
              <a:gdLst/>
              <a:ahLst/>
              <a:cxnLst/>
              <a:rect r="r" b="b" t="t" l="l"/>
              <a:pathLst>
                <a:path h="6060440" w="5132324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65786"/>
                    <a:pt x="5132324" y="147066"/>
                  </a:cubicBezTo>
                  <a:lnTo>
                    <a:pt x="5132324" y="5913374"/>
                  </a:lnTo>
                  <a:cubicBezTo>
                    <a:pt x="5132324" y="5994527"/>
                    <a:pt x="5066538" y="6060440"/>
                    <a:pt x="4985258" y="6060440"/>
                  </a:cubicBezTo>
                  <a:lnTo>
                    <a:pt x="147066" y="6060440"/>
                  </a:lnTo>
                  <a:cubicBezTo>
                    <a:pt x="65786" y="6060440"/>
                    <a:pt x="0" y="5994654"/>
                    <a:pt x="0" y="59133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13435" y="2733675"/>
            <a:ext cx="3849243" cy="5751283"/>
            <a:chOff x="0" y="0"/>
            <a:chExt cx="5132324" cy="76683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2324" cy="7668377"/>
            </a:xfrm>
            <a:custGeom>
              <a:avLst/>
              <a:gdLst/>
              <a:ahLst/>
              <a:cxnLst/>
              <a:rect r="r" b="b" t="t" l="l"/>
              <a:pathLst>
                <a:path h="7668377" w="5132324">
                  <a:moveTo>
                    <a:pt x="0" y="186085"/>
                  </a:moveTo>
                  <a:cubicBezTo>
                    <a:pt x="0" y="83240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83240"/>
                    <a:pt x="5132324" y="186085"/>
                  </a:cubicBezTo>
                  <a:lnTo>
                    <a:pt x="5132324" y="7482292"/>
                  </a:lnTo>
                  <a:cubicBezTo>
                    <a:pt x="5132324" y="7584977"/>
                    <a:pt x="5066538" y="7668377"/>
                    <a:pt x="4985258" y="7668377"/>
                  </a:cubicBezTo>
                  <a:lnTo>
                    <a:pt x="147066" y="7668377"/>
                  </a:lnTo>
                  <a:cubicBezTo>
                    <a:pt x="65786" y="7668377"/>
                    <a:pt x="0" y="7585137"/>
                    <a:pt x="0" y="74822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07008" y="3154680"/>
            <a:ext cx="438912" cy="68580"/>
            <a:chOff x="0" y="0"/>
            <a:chExt cx="585216" cy="91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" cy="91440"/>
            </a:xfrm>
            <a:custGeom>
              <a:avLst/>
              <a:gdLst/>
              <a:ahLst/>
              <a:cxnLst/>
              <a:rect r="r" b="b" t="t" l="l"/>
              <a:pathLst>
                <a:path h="914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008" y="3429000"/>
            <a:ext cx="3062097" cy="569128"/>
            <a:chOff x="0" y="0"/>
            <a:chExt cx="4082796" cy="7588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82796" cy="758837"/>
            </a:xfrm>
            <a:custGeom>
              <a:avLst/>
              <a:gdLst/>
              <a:ahLst/>
              <a:cxnLst/>
              <a:rect r="r" b="b" t="t" l="l"/>
              <a:pathLst>
                <a:path h="758837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635" r="0" b="-530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082796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SAP Business One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0150" y="5623560"/>
            <a:ext cx="3062097" cy="342900"/>
            <a:chOff x="0" y="0"/>
            <a:chExt cx="4082796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APORTA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0150" y="5955484"/>
            <a:ext cx="3062097" cy="1097280"/>
            <a:chOff x="0" y="0"/>
            <a:chExt cx="4082796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827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0" b="-43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827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el ERP: la fuente oficial de la información del negocio.</a:t>
              </a:r>
            </a:p>
            <a:p>
              <a:pPr algn="just">
                <a:lnSpc>
                  <a:spcPts val="20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0150" y="6758940"/>
            <a:ext cx="3062097" cy="342900"/>
            <a:chOff x="0" y="0"/>
            <a:chExt cx="4082796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0150" y="7144659"/>
            <a:ext cx="3062097" cy="1369684"/>
            <a:chOff x="0" y="0"/>
            <a:chExt cx="4082796" cy="18262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82796" cy="1826245"/>
            </a:xfrm>
            <a:custGeom>
              <a:avLst/>
              <a:gdLst/>
              <a:ahLst/>
              <a:cxnLst/>
              <a:rect r="r" b="b" t="t" l="l"/>
              <a:pathLst>
                <a:path h="1826245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826245"/>
                  </a:lnTo>
                  <a:lnTo>
                    <a:pt x="0" y="18262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" r="0" b="1638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082796" cy="1864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Exige una licencia por persona, incluso para solo consultar, y se vuelve más lento a medida que más usuarios lo ocupan.</a:t>
              </a:r>
            </a:p>
            <a:p>
              <a:pPr algn="just">
                <a:lnSpc>
                  <a:spcPts val="20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82540" y="2733675"/>
            <a:ext cx="3849243" cy="4545330"/>
            <a:chOff x="0" y="0"/>
            <a:chExt cx="5132324" cy="6060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32324" cy="6060440"/>
            </a:xfrm>
            <a:custGeom>
              <a:avLst/>
              <a:gdLst/>
              <a:ahLst/>
              <a:cxnLst/>
              <a:rect r="r" b="b" t="t" l="l"/>
              <a:pathLst>
                <a:path h="6060440" w="5132324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65786"/>
                    <a:pt x="5132324" y="147066"/>
                  </a:cubicBezTo>
                  <a:lnTo>
                    <a:pt x="5132324" y="5913374"/>
                  </a:lnTo>
                  <a:cubicBezTo>
                    <a:pt x="5132324" y="5994527"/>
                    <a:pt x="5066538" y="6060440"/>
                    <a:pt x="4985258" y="6060440"/>
                  </a:cubicBezTo>
                  <a:lnTo>
                    <a:pt x="147066" y="6060440"/>
                  </a:lnTo>
                  <a:cubicBezTo>
                    <a:pt x="65786" y="6060440"/>
                    <a:pt x="0" y="5994654"/>
                    <a:pt x="0" y="59133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082540" y="2733675"/>
            <a:ext cx="3849243" cy="5751283"/>
            <a:chOff x="0" y="0"/>
            <a:chExt cx="5132324" cy="76683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32324" cy="7668377"/>
            </a:xfrm>
            <a:custGeom>
              <a:avLst/>
              <a:gdLst/>
              <a:ahLst/>
              <a:cxnLst/>
              <a:rect r="r" b="b" t="t" l="l"/>
              <a:pathLst>
                <a:path h="7668377" w="5132324">
                  <a:moveTo>
                    <a:pt x="0" y="186085"/>
                  </a:moveTo>
                  <a:cubicBezTo>
                    <a:pt x="0" y="83240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83240"/>
                    <a:pt x="5132324" y="186085"/>
                  </a:cubicBezTo>
                  <a:lnTo>
                    <a:pt x="5132324" y="7482292"/>
                  </a:lnTo>
                  <a:cubicBezTo>
                    <a:pt x="5132324" y="7584977"/>
                    <a:pt x="5066538" y="7668377"/>
                    <a:pt x="4985258" y="7668377"/>
                  </a:cubicBezTo>
                  <a:lnTo>
                    <a:pt x="147066" y="7668377"/>
                  </a:lnTo>
                  <a:cubicBezTo>
                    <a:pt x="65786" y="7668377"/>
                    <a:pt x="0" y="7585137"/>
                    <a:pt x="0" y="74822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476113" y="3154680"/>
            <a:ext cx="438912" cy="68580"/>
            <a:chOff x="0" y="0"/>
            <a:chExt cx="585216" cy="91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" cy="91440"/>
            </a:xfrm>
            <a:custGeom>
              <a:avLst/>
              <a:gdLst/>
              <a:ahLst/>
              <a:cxnLst/>
              <a:rect r="r" b="b" t="t" l="l"/>
              <a:pathLst>
                <a:path h="914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476113" y="3429000"/>
            <a:ext cx="3062097" cy="548640"/>
            <a:chOff x="0" y="0"/>
            <a:chExt cx="4082796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82796" cy="731520"/>
            </a:xfrm>
            <a:custGeom>
              <a:avLst/>
              <a:gdLst/>
              <a:ahLst/>
              <a:cxnLst/>
              <a:rect r="r" b="b" t="t" l="l"/>
              <a:pathLst>
                <a:path h="73152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750" r="0" b="-587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082796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70398" y="5554980"/>
            <a:ext cx="3062097" cy="342900"/>
            <a:chOff x="0" y="0"/>
            <a:chExt cx="4082796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APORTA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479923" y="5661660"/>
            <a:ext cx="3062097" cy="1097280"/>
            <a:chOff x="0" y="0"/>
            <a:chExt cx="4082796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827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0" b="-43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0827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flexible y cada área la adapta a su forma de trabajar.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476113" y="6801759"/>
            <a:ext cx="3062097" cy="342900"/>
            <a:chOff x="0" y="0"/>
            <a:chExt cx="4082796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476113" y="7082790"/>
            <a:ext cx="3062097" cy="1097280"/>
            <a:chOff x="0" y="0"/>
            <a:chExt cx="4082796" cy="1463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827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0" b="-4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0827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información se duplica, se desactualiza y no hay una versión única.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51645" y="2733675"/>
            <a:ext cx="3849243" cy="4545330"/>
            <a:chOff x="0" y="0"/>
            <a:chExt cx="5132324" cy="6060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32324" cy="6060440"/>
            </a:xfrm>
            <a:custGeom>
              <a:avLst/>
              <a:gdLst/>
              <a:ahLst/>
              <a:cxnLst/>
              <a:rect r="r" b="b" t="t" l="l"/>
              <a:pathLst>
                <a:path h="6060440" w="5132324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65786"/>
                    <a:pt x="5132324" y="147066"/>
                  </a:cubicBezTo>
                  <a:lnTo>
                    <a:pt x="5132324" y="5913374"/>
                  </a:lnTo>
                  <a:cubicBezTo>
                    <a:pt x="5132324" y="5994527"/>
                    <a:pt x="5066538" y="6060440"/>
                    <a:pt x="4985258" y="6060440"/>
                  </a:cubicBezTo>
                  <a:lnTo>
                    <a:pt x="147066" y="6060440"/>
                  </a:lnTo>
                  <a:cubicBezTo>
                    <a:pt x="65786" y="6060440"/>
                    <a:pt x="0" y="5994654"/>
                    <a:pt x="0" y="59133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351645" y="2733675"/>
            <a:ext cx="3849243" cy="5751283"/>
            <a:chOff x="0" y="0"/>
            <a:chExt cx="5132324" cy="766837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32324" cy="7668377"/>
            </a:xfrm>
            <a:custGeom>
              <a:avLst/>
              <a:gdLst/>
              <a:ahLst/>
              <a:cxnLst/>
              <a:rect r="r" b="b" t="t" l="l"/>
              <a:pathLst>
                <a:path h="7668377" w="5132324">
                  <a:moveTo>
                    <a:pt x="0" y="186085"/>
                  </a:moveTo>
                  <a:cubicBezTo>
                    <a:pt x="0" y="83240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83240"/>
                    <a:pt x="5132324" y="186085"/>
                  </a:cubicBezTo>
                  <a:lnTo>
                    <a:pt x="5132324" y="7482292"/>
                  </a:lnTo>
                  <a:cubicBezTo>
                    <a:pt x="5132324" y="7584977"/>
                    <a:pt x="5066538" y="7668377"/>
                    <a:pt x="4985258" y="7668377"/>
                  </a:cubicBezTo>
                  <a:lnTo>
                    <a:pt x="147066" y="7668377"/>
                  </a:lnTo>
                  <a:cubicBezTo>
                    <a:pt x="65786" y="7668377"/>
                    <a:pt x="0" y="7585137"/>
                    <a:pt x="0" y="74822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745218" y="3154680"/>
            <a:ext cx="438912" cy="68580"/>
            <a:chOff x="0" y="0"/>
            <a:chExt cx="585216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216" cy="91440"/>
            </a:xfrm>
            <a:custGeom>
              <a:avLst/>
              <a:gdLst/>
              <a:ahLst/>
              <a:cxnLst/>
              <a:rect r="r" b="b" t="t" l="l"/>
              <a:pathLst>
                <a:path h="914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745218" y="3429000"/>
            <a:ext cx="3062097" cy="548640"/>
            <a:chOff x="0" y="0"/>
            <a:chExt cx="4082796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82796" cy="731520"/>
            </a:xfrm>
            <a:custGeom>
              <a:avLst/>
              <a:gdLst/>
              <a:ahLst/>
              <a:cxnLst/>
              <a:rect r="r" b="b" t="t" l="l"/>
              <a:pathLst>
                <a:path h="73152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750" r="0" b="-587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082796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96117" y="5556885"/>
            <a:ext cx="3062097" cy="342900"/>
            <a:chOff x="0" y="0"/>
            <a:chExt cx="4082796" cy="457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APORTA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96117" y="5704479"/>
            <a:ext cx="3116913" cy="1097280"/>
            <a:chOff x="0" y="0"/>
            <a:chExt cx="4155884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55884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55884">
                  <a:moveTo>
                    <a:pt x="0" y="0"/>
                  </a:moveTo>
                  <a:lnTo>
                    <a:pt x="4155884" y="0"/>
                  </a:lnTo>
                  <a:lnTo>
                    <a:pt x="415588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1758" b="-437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15588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Deja registro escrito de solicitudes y autorizaciones.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96117" y="6801759"/>
            <a:ext cx="3062097" cy="342900"/>
            <a:chOff x="0" y="0"/>
            <a:chExt cx="4082796" cy="457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96117" y="7101840"/>
            <a:ext cx="3171729" cy="1112509"/>
            <a:chOff x="0" y="0"/>
            <a:chExt cx="4228972" cy="148334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28972" cy="1483345"/>
            </a:xfrm>
            <a:custGeom>
              <a:avLst/>
              <a:gdLst/>
              <a:ahLst/>
              <a:cxnLst/>
              <a:rect r="r" b="b" t="t" l="l"/>
              <a:pathLst>
                <a:path h="1483345" w="4228972">
                  <a:moveTo>
                    <a:pt x="0" y="0"/>
                  </a:moveTo>
                  <a:lnTo>
                    <a:pt x="4228972" y="0"/>
                  </a:lnTo>
                  <a:lnTo>
                    <a:pt x="4228972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5" r="3456" b="-294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228972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hay estado ni plazo: para saber en qué va una solicitud hay que volver a preguntar, y las respuestas quedan en cada bandeja.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620750" y="2733675"/>
            <a:ext cx="3849243" cy="4545330"/>
            <a:chOff x="0" y="0"/>
            <a:chExt cx="5132324" cy="6060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32324" cy="6060440"/>
            </a:xfrm>
            <a:custGeom>
              <a:avLst/>
              <a:gdLst/>
              <a:ahLst/>
              <a:cxnLst/>
              <a:rect r="r" b="b" t="t" l="l"/>
              <a:pathLst>
                <a:path h="6060440" w="5132324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65786"/>
                    <a:pt x="5132324" y="147066"/>
                  </a:cubicBezTo>
                  <a:lnTo>
                    <a:pt x="5132324" y="5913374"/>
                  </a:lnTo>
                  <a:cubicBezTo>
                    <a:pt x="5132324" y="5994527"/>
                    <a:pt x="5066538" y="6060440"/>
                    <a:pt x="4985258" y="6060440"/>
                  </a:cubicBezTo>
                  <a:lnTo>
                    <a:pt x="147066" y="6060440"/>
                  </a:lnTo>
                  <a:cubicBezTo>
                    <a:pt x="65786" y="6060440"/>
                    <a:pt x="0" y="5994654"/>
                    <a:pt x="0" y="59133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620750" y="2733675"/>
            <a:ext cx="3849243" cy="5751283"/>
            <a:chOff x="0" y="0"/>
            <a:chExt cx="5132324" cy="76683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32324" cy="7668377"/>
            </a:xfrm>
            <a:custGeom>
              <a:avLst/>
              <a:gdLst/>
              <a:ahLst/>
              <a:cxnLst/>
              <a:rect r="r" b="b" t="t" l="l"/>
              <a:pathLst>
                <a:path h="7668377" w="5132324">
                  <a:moveTo>
                    <a:pt x="0" y="186085"/>
                  </a:moveTo>
                  <a:cubicBezTo>
                    <a:pt x="0" y="83240"/>
                    <a:pt x="65786" y="0"/>
                    <a:pt x="147066" y="0"/>
                  </a:cubicBezTo>
                  <a:lnTo>
                    <a:pt x="4985258" y="0"/>
                  </a:lnTo>
                  <a:cubicBezTo>
                    <a:pt x="5066411" y="0"/>
                    <a:pt x="5132324" y="83240"/>
                    <a:pt x="5132324" y="186085"/>
                  </a:cubicBezTo>
                  <a:lnTo>
                    <a:pt x="5132324" y="7482292"/>
                  </a:lnTo>
                  <a:cubicBezTo>
                    <a:pt x="5132324" y="7584977"/>
                    <a:pt x="5066538" y="7668377"/>
                    <a:pt x="4985258" y="7668377"/>
                  </a:cubicBezTo>
                  <a:lnTo>
                    <a:pt x="147066" y="7668377"/>
                  </a:lnTo>
                  <a:cubicBezTo>
                    <a:pt x="65786" y="7668377"/>
                    <a:pt x="0" y="7585137"/>
                    <a:pt x="0" y="748229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4014323" y="3154680"/>
            <a:ext cx="438912" cy="68580"/>
            <a:chOff x="0" y="0"/>
            <a:chExt cx="585216" cy="91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216" cy="91440"/>
            </a:xfrm>
            <a:custGeom>
              <a:avLst/>
              <a:gdLst/>
              <a:ahLst/>
              <a:cxnLst/>
              <a:rect r="r" b="b" t="t" l="l"/>
              <a:pathLst>
                <a:path h="914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014323" y="3429000"/>
            <a:ext cx="3062097" cy="548640"/>
            <a:chOff x="0" y="0"/>
            <a:chExt cx="4082796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082796" cy="731520"/>
            </a:xfrm>
            <a:custGeom>
              <a:avLst/>
              <a:gdLst/>
              <a:ahLst/>
              <a:cxnLst/>
              <a:rect r="r" b="b" t="t" l="l"/>
              <a:pathLst>
                <a:path h="73152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750" r="0" b="-5875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4082796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Tareas manuales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962888" y="5490210"/>
            <a:ext cx="3062097" cy="342900"/>
            <a:chOff x="0" y="0"/>
            <a:chExt cx="4082796" cy="457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APORTA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962888" y="5806440"/>
            <a:ext cx="3062097" cy="1097280"/>
            <a:chOff x="0" y="0"/>
            <a:chExt cx="4082796" cy="14630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827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0" b="-437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0827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Resuelve lo que ningún sistema conecta hoy.</a:t>
              </a:r>
            </a:p>
            <a:p>
              <a:pPr algn="l">
                <a:lnSpc>
                  <a:spcPts val="225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962888" y="6758940"/>
            <a:ext cx="3062097" cy="342900"/>
            <a:chOff x="0" y="0"/>
            <a:chExt cx="4082796" cy="457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FALLA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962888" y="6835140"/>
            <a:ext cx="3119247" cy="1097280"/>
            <a:chOff x="0" y="0"/>
            <a:chExt cx="4158996" cy="1463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58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58996">
                  <a:moveTo>
                    <a:pt x="0" y="0"/>
                  </a:moveTo>
                  <a:lnTo>
                    <a:pt x="4158996" y="0"/>
                  </a:lnTo>
                  <a:lnTo>
                    <a:pt x="4158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1832" b="-437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1589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repiten, se olvidan y dependen de quien las hace.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13435" y="8732520"/>
            <a:ext cx="14007116" cy="1184910"/>
            <a:chOff x="0" y="0"/>
            <a:chExt cx="18676155" cy="15798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676156" cy="1579880"/>
            </a:xfrm>
            <a:custGeom>
              <a:avLst/>
              <a:gdLst/>
              <a:ahLst/>
              <a:cxnLst/>
              <a:rect r="r" b="b" t="t" l="l"/>
              <a:pathLst>
                <a:path h="1579880" w="18676156">
                  <a:moveTo>
                    <a:pt x="0" y="148717"/>
                  </a:moveTo>
                  <a:cubicBezTo>
                    <a:pt x="0" y="66548"/>
                    <a:pt x="55963" y="0"/>
                    <a:pt x="125062" y="0"/>
                  </a:cubicBezTo>
                  <a:lnTo>
                    <a:pt x="18551094" y="0"/>
                  </a:lnTo>
                  <a:cubicBezTo>
                    <a:pt x="18620194" y="0"/>
                    <a:pt x="18676156" y="66548"/>
                    <a:pt x="18676156" y="148717"/>
                  </a:cubicBezTo>
                  <a:lnTo>
                    <a:pt x="18676156" y="1431163"/>
                  </a:lnTo>
                  <a:cubicBezTo>
                    <a:pt x="18676156" y="1513332"/>
                    <a:pt x="18620194" y="1579880"/>
                    <a:pt x="18551094" y="1579880"/>
                  </a:cubicBezTo>
                  <a:lnTo>
                    <a:pt x="125062" y="1579880"/>
                  </a:lnTo>
                  <a:cubicBezTo>
                    <a:pt x="55963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028700" y="8751570"/>
            <a:ext cx="13424535" cy="1165860"/>
            <a:chOff x="0" y="0"/>
            <a:chExt cx="17899380" cy="15544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8993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7899380">
                  <a:moveTo>
                    <a:pt x="0" y="0"/>
                  </a:moveTo>
                  <a:lnTo>
                    <a:pt x="17899380" y="0"/>
                  </a:lnTo>
                  <a:lnTo>
                    <a:pt x="178993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2016" r="-16781" b="-21201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8993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QUE AREAS AFECTA :  Ventas, bodega, logística. De forma indirecta, las jefaturas, que necesitan información actualizada y trazable para decidir.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10818" y="4112428"/>
            <a:ext cx="3062097" cy="342900"/>
            <a:chOff x="0" y="0"/>
            <a:chExt cx="4082796" cy="4572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 US</a:t>
              </a: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PARA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00150" y="4457700"/>
            <a:ext cx="3062097" cy="1097280"/>
            <a:chOff x="0" y="0"/>
            <a:chExt cx="4082796" cy="14630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0827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0" b="-437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0827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Toda la operación del negocio. Ventas, compras, facturación y contabilidad trabajan sobre él.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479923" y="4114800"/>
            <a:ext cx="3062097" cy="342900"/>
            <a:chOff x="0" y="0"/>
            <a:chExt cx="4082796" cy="4572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 USA PARA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470398" y="4302486"/>
            <a:ext cx="3067812" cy="1097280"/>
            <a:chOff x="0" y="0"/>
            <a:chExt cx="4090416" cy="14630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904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90416">
                  <a:moveTo>
                    <a:pt x="0" y="0"/>
                  </a:moveTo>
                  <a:lnTo>
                    <a:pt x="4090416" y="0"/>
                  </a:lnTo>
                  <a:lnTo>
                    <a:pt x="409041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186" b="-437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09041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Llevar el control paralelo de solicitudes y seguimientos.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96117" y="3977640"/>
            <a:ext cx="3062097" cy="342900"/>
            <a:chOff x="0" y="0"/>
            <a:chExt cx="4082796" cy="4572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 USA PARA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696117" y="4340586"/>
            <a:ext cx="3107388" cy="1112509"/>
            <a:chOff x="0" y="0"/>
            <a:chExt cx="4143184" cy="148334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143184" cy="1483345"/>
            </a:xfrm>
            <a:custGeom>
              <a:avLst/>
              <a:gdLst/>
              <a:ahLst/>
              <a:cxnLst/>
              <a:rect r="r" b="b" t="t" l="l"/>
              <a:pathLst>
                <a:path h="1483345" w="4143184">
                  <a:moveTo>
                    <a:pt x="0" y="0"/>
                  </a:moveTo>
                  <a:lnTo>
                    <a:pt x="4143184" y="0"/>
                  </a:lnTo>
                  <a:lnTo>
                    <a:pt x="4143184" y="1483345"/>
                  </a:lnTo>
                  <a:lnTo>
                    <a:pt x="0" y="1483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5" r="1457" b="-294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143184" cy="1521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Preguntar por ventas, enviar solicitudes de compra en Excel, consultar bloqueos de clientes y pedir autorizaciones.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962888" y="3998128"/>
            <a:ext cx="3062097" cy="342900"/>
            <a:chOff x="0" y="0"/>
            <a:chExt cx="4082796" cy="457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82796" cy="457200"/>
            </a:xfrm>
            <a:custGeom>
              <a:avLst/>
              <a:gdLst/>
              <a:ahLst/>
              <a:cxnLst/>
              <a:rect r="r" b="b" t="t" l="l"/>
              <a:pathLst>
                <a:path h="45720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001" r="0" b="-12400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08279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 USA PARA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962888" y="4169578"/>
            <a:ext cx="3062097" cy="1097280"/>
            <a:chOff x="0" y="0"/>
            <a:chExt cx="4082796" cy="14630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0827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82796">
                  <a:moveTo>
                    <a:pt x="0" y="0"/>
                  </a:moveTo>
                  <a:lnTo>
                    <a:pt x="4082796" y="0"/>
                  </a:lnTo>
                  <a:lnTo>
                    <a:pt x="40827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" r="0" b="-437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0827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</a:t>
              </a:r>
              <a:r>
                <a:rPr lang="en-US" sz="1875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spasar datos entre sistemas y hacer seguimiento.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32485" y="394716"/>
            <a:ext cx="16637508" cy="521208"/>
            <a:chOff x="0" y="0"/>
            <a:chExt cx="22183344" cy="6949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22183344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SITUA</a:t>
              </a:r>
              <a:r>
                <a:rPr lang="en-US" sz="1599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CIÓN ACTUAL EN GGH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Situación actua</a:t>
              </a: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 del licenciamiento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LICENCIAS </a:t>
              </a: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GGH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665095"/>
            <a:ext cx="5199126" cy="2693670"/>
            <a:chOff x="0" y="0"/>
            <a:chExt cx="6932168" cy="3591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32168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3216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784848" y="0"/>
                  </a:lnTo>
                  <a:cubicBezTo>
                    <a:pt x="6866255" y="0"/>
                    <a:pt x="6932168" y="65913"/>
                    <a:pt x="6932168" y="147320"/>
                  </a:cubicBezTo>
                  <a:lnTo>
                    <a:pt x="6932168" y="3444240"/>
                  </a:lnTo>
                  <a:cubicBezTo>
                    <a:pt x="6932168" y="3525647"/>
                    <a:pt x="6866255" y="3591560"/>
                    <a:pt x="678484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948940"/>
            <a:ext cx="4357116" cy="1371600"/>
            <a:chOff x="0" y="0"/>
            <a:chExt cx="5809488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094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97" r="0" b="-118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5809488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99"/>
                </a:lnSpc>
              </a:pPr>
              <a:r>
                <a:rPr lang="en-US" sz="5499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4136569"/>
            <a:ext cx="4357116" cy="822960"/>
            <a:chOff x="0" y="0"/>
            <a:chExt cx="5809488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094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62" r="0" b="-531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80948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licencias SAP activas hoy en la empresas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42151" y="2665095"/>
            <a:ext cx="5199126" cy="2693670"/>
            <a:chOff x="0" y="0"/>
            <a:chExt cx="6932168" cy="3591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32168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3216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784848" y="0"/>
                  </a:lnTo>
                  <a:cubicBezTo>
                    <a:pt x="6866255" y="0"/>
                    <a:pt x="6932168" y="65913"/>
                    <a:pt x="6932168" y="147320"/>
                  </a:cubicBezTo>
                  <a:lnTo>
                    <a:pt x="6932168" y="3444240"/>
                  </a:lnTo>
                  <a:cubicBezTo>
                    <a:pt x="6932168" y="3525647"/>
                    <a:pt x="6866255" y="3591560"/>
                    <a:pt x="678484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63156" y="2948940"/>
            <a:ext cx="4357116" cy="1371600"/>
            <a:chOff x="0" y="0"/>
            <a:chExt cx="5809488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094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97" r="0" b="-118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5809488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99"/>
                </a:lnSpc>
              </a:pPr>
              <a:r>
                <a:rPr lang="en-US" sz="5499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63156" y="4136569"/>
            <a:ext cx="4357116" cy="822960"/>
            <a:chOff x="0" y="0"/>
            <a:chExt cx="5809488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094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62" r="0" b="-531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80948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 de vendedores, usadas para cotizaciones y órdenes de venta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70867" y="2665095"/>
            <a:ext cx="5199126" cy="2693670"/>
            <a:chOff x="0" y="0"/>
            <a:chExt cx="6932168" cy="3591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32168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32168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784848" y="0"/>
                  </a:lnTo>
                  <a:cubicBezTo>
                    <a:pt x="6866255" y="0"/>
                    <a:pt x="6932168" y="65913"/>
                    <a:pt x="6932168" y="147320"/>
                  </a:cubicBezTo>
                  <a:lnTo>
                    <a:pt x="6932168" y="3444240"/>
                  </a:lnTo>
                  <a:cubicBezTo>
                    <a:pt x="6932168" y="3525647"/>
                    <a:pt x="6866255" y="3591560"/>
                    <a:pt x="678484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274677" y="2948940"/>
            <a:ext cx="5195316" cy="1861487"/>
            <a:chOff x="0" y="0"/>
            <a:chExt cx="6927088" cy="24819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27088" cy="2481982"/>
            </a:xfrm>
            <a:custGeom>
              <a:avLst/>
              <a:gdLst/>
              <a:ahLst/>
              <a:cxnLst/>
              <a:rect r="r" b="b" t="t" l="l"/>
              <a:pathLst>
                <a:path h="2481982" w="6927088">
                  <a:moveTo>
                    <a:pt x="0" y="0"/>
                  </a:moveTo>
                  <a:lnTo>
                    <a:pt x="6927088" y="0"/>
                  </a:lnTo>
                  <a:lnTo>
                    <a:pt x="6927088" y="2481982"/>
                  </a:lnTo>
                  <a:lnTo>
                    <a:pt x="0" y="24819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66" r="16133" b="175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6927088" cy="2577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CLP $</a:t>
              </a:r>
              <a:r>
                <a:rPr lang="en-US" sz="46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44,7 a $53,6 mil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36744" y="4320540"/>
            <a:ext cx="4722556" cy="822960"/>
            <a:chOff x="0" y="0"/>
            <a:chExt cx="6296742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9674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96742">
                  <a:moveTo>
                    <a:pt x="0" y="0"/>
                  </a:moveTo>
                  <a:lnTo>
                    <a:pt x="6296742" y="0"/>
                  </a:lnTo>
                  <a:lnTo>
                    <a:pt x="629674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62" r="7738" b="-531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29674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ahorro potencial al liberar esas 32 licencias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3435" y="7299960"/>
            <a:ext cx="8229600" cy="411480"/>
            <a:chOff x="0" y="0"/>
            <a:chExt cx="109728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de la reducción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8054340"/>
            <a:ext cx="16637508" cy="685800"/>
            <a:chOff x="0" y="0"/>
            <a:chExt cx="22183344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13435" y="7848600"/>
            <a:ext cx="6914293" cy="1097280"/>
            <a:chOff x="0" y="0"/>
            <a:chExt cx="9219057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19057" cy="1463040"/>
            </a:xfrm>
            <a:custGeom>
              <a:avLst/>
              <a:gdLst/>
              <a:ahLst/>
              <a:cxnLst/>
              <a:rect r="r" b="b" t="t" l="l"/>
              <a:pathLst>
                <a:path h="1463040" w="9219057">
                  <a:moveTo>
                    <a:pt x="0" y="0"/>
                  </a:moveTo>
                  <a:lnTo>
                    <a:pt x="9219057" y="0"/>
                  </a:lnTo>
                  <a:lnTo>
                    <a:pt x="9219057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9175" y="8054340"/>
            <a:ext cx="6502813" cy="685800"/>
            <a:chOff x="0" y="0"/>
            <a:chExt cx="8670417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70412" cy="914400"/>
            </a:xfrm>
            <a:custGeom>
              <a:avLst/>
              <a:gdLst/>
              <a:ahLst/>
              <a:cxnLst/>
              <a:rect r="r" b="b" t="t" l="l"/>
              <a:pathLst>
                <a:path h="914400" w="8670412">
                  <a:moveTo>
                    <a:pt x="0" y="0"/>
                  </a:moveTo>
                  <a:lnTo>
                    <a:pt x="8670412" y="0"/>
                  </a:lnTo>
                  <a:lnTo>
                    <a:pt x="86704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58" r="0" b="-13475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670417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21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esta etapa nos concentramos en las </a:t>
              </a:r>
              <a:r>
                <a:rPr lang="en-US" sz="1800">
                  <a:solidFill>
                    <a:srgbClr val="0021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 licencias de CRM. Más adelante, nuevas funciones permitirán liberar otras del total de 77.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970012" y="8054340"/>
            <a:ext cx="4114800" cy="685800"/>
            <a:chOff x="0" y="0"/>
            <a:chExt cx="5486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486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21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45 se mantendrian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5815965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 de licencias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32485" y="6341745"/>
            <a:ext cx="16637508" cy="824865"/>
            <a:chOff x="0" y="0"/>
            <a:chExt cx="22183344" cy="10998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183344" cy="1099820"/>
            </a:xfrm>
            <a:custGeom>
              <a:avLst/>
              <a:gdLst/>
              <a:ahLst/>
              <a:cxnLst/>
              <a:rect r="r" b="b" t="t" l="l"/>
              <a:pathLst>
                <a:path h="109982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099820"/>
                  </a:lnTo>
                  <a:lnTo>
                    <a:pt x="0" y="109982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175" y="6447949"/>
            <a:ext cx="16627983" cy="631507"/>
            <a:chOff x="0" y="0"/>
            <a:chExt cx="22170644" cy="8420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170631" cy="842010"/>
            </a:xfrm>
            <a:custGeom>
              <a:avLst/>
              <a:gdLst/>
              <a:ahLst/>
              <a:cxnLst/>
              <a:rect r="r" b="b" t="t" l="l"/>
              <a:pathLst>
                <a:path h="842010" w="22170631">
                  <a:moveTo>
                    <a:pt x="0" y="0"/>
                  </a:moveTo>
                  <a:lnTo>
                    <a:pt x="22170631" y="0"/>
                  </a:lnTo>
                  <a:lnTo>
                    <a:pt x="22170631" y="842010"/>
                  </a:lnTo>
                  <a:lnTo>
                    <a:pt x="0" y="8420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344" r="60892" b="-15494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2170644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21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Licencia normal de SAP Business One, modalidad On-Premise, de pago único: CLP $1,4 a $1,7 millones por usuario (USD 1.500 a 1.800). El ahorro proyectado resulta de liberar las </a:t>
              </a:r>
              <a:r>
                <a:rPr lang="en-US" sz="1800">
                  <a:solidFill>
                    <a:srgbClr val="0021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 licencias de vendedores, que pasan a operar desde la plataforma.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1028700"/>
            <a:ext cx="5486400" cy="2057400"/>
            <a:chOff x="0" y="0"/>
            <a:chExt cx="731520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731520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854271"/>
            <a:ext cx="13030200" cy="1097280"/>
            <a:chOff x="0" y="0"/>
            <a:chExt cx="17373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7373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propuesta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4521521"/>
            <a:ext cx="7201428" cy="796723"/>
            <a:chOff x="0" y="0"/>
            <a:chExt cx="9601904" cy="10622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905" cy="1062298"/>
            </a:xfrm>
            <a:custGeom>
              <a:avLst/>
              <a:gdLst/>
              <a:ahLst/>
              <a:cxnLst/>
              <a:rect r="r" b="b" t="t" l="l"/>
              <a:pathLst>
                <a:path h="1062298" w="9601905">
                  <a:moveTo>
                    <a:pt x="0" y="0"/>
                  </a:moveTo>
                  <a:lnTo>
                    <a:pt x="9601905" y="0"/>
                  </a:lnTo>
                  <a:lnTo>
                    <a:pt x="9601905" y="1062298"/>
                  </a:lnTo>
                  <a:lnTo>
                    <a:pt x="0" y="1062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633" r="-80939" b="-26171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601904" cy="1119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 plataforma web interna que centralizará los procesos, no un reemplazo del ERP.</a:t>
              </a: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022608" y="2014745"/>
            <a:ext cx="7236692" cy="5810276"/>
            <a:chOff x="0" y="0"/>
            <a:chExt cx="7467600" cy="5995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5"/>
              <a:stretch>
                <a:fillRect l="0" t="-9337" r="0" b="-933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3967203"/>
            <a:ext cx="8321040" cy="146284"/>
            <a:chOff x="0" y="0"/>
            <a:chExt cx="1005840" cy="176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7683"/>
            </a:xfrm>
            <a:custGeom>
              <a:avLst/>
              <a:gdLst/>
              <a:ahLst/>
              <a:cxnLst/>
              <a:rect r="r" b="b" t="t" l="l"/>
              <a:pathLst>
                <a:path h="17683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7683"/>
                  </a:lnTo>
                  <a:lnTo>
                    <a:pt x="0" y="17683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817729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 Plataforma de gestión interna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732179"/>
            <a:chOff x="0" y="0"/>
            <a:chExt cx="22183344" cy="9762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976238"/>
            </a:xfrm>
            <a:custGeom>
              <a:avLst/>
              <a:gdLst/>
              <a:ahLst/>
              <a:cxnLst/>
              <a:rect r="r" b="b" t="t" l="l"/>
              <a:pathLst>
                <a:path h="976238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7171" r="0" b="-3783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interna que complemente a SAP Business One y centralice los procesos que actualmente se gestionan mediante correos electrónicos, planillas Excel y seguimientos manuales.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311146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9918" y="2752915"/>
            <a:ext cx="7994904" cy="4339590"/>
            <a:chOff x="0" y="0"/>
            <a:chExt cx="10659872" cy="5786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9872" cy="5786120"/>
            </a:xfrm>
            <a:custGeom>
              <a:avLst/>
              <a:gdLst/>
              <a:ahLst/>
              <a:cxnLst/>
              <a:rect r="r" b="b" t="t" l="l"/>
              <a:pathLst>
                <a:path h="5786120" w="10659872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512933" y="0"/>
                  </a:lnTo>
                  <a:cubicBezTo>
                    <a:pt x="10594086" y="0"/>
                    <a:pt x="10659872" y="65786"/>
                    <a:pt x="10659872" y="146939"/>
                  </a:cubicBezTo>
                  <a:lnTo>
                    <a:pt x="10659872" y="5639181"/>
                  </a:lnTo>
                  <a:cubicBezTo>
                    <a:pt x="10659872" y="5720334"/>
                    <a:pt x="10594086" y="5786120"/>
                    <a:pt x="10512933" y="5786120"/>
                  </a:cubicBezTo>
                  <a:lnTo>
                    <a:pt x="146939" y="5786120"/>
                  </a:lnTo>
                  <a:cubicBezTo>
                    <a:pt x="65786" y="5786120"/>
                    <a:pt x="0" y="5720334"/>
                    <a:pt x="0" y="5639181"/>
                  </a:cubicBezTo>
                  <a:close/>
                </a:path>
              </a:pathLst>
            </a:custGeom>
            <a:solidFill>
              <a:srgbClr val="1B3A55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3127248"/>
            <a:ext cx="6878574" cy="617220"/>
            <a:chOff x="0" y="0"/>
            <a:chExt cx="9171432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432" cy="822960"/>
            </a:xfrm>
            <a:custGeom>
              <a:avLst/>
              <a:gdLst/>
              <a:ahLst/>
              <a:cxnLst/>
              <a:rect r="r" b="b" t="t" l="l"/>
              <a:pathLst>
                <a:path h="822960" w="9171432">
                  <a:moveTo>
                    <a:pt x="0" y="0"/>
                  </a:moveTo>
                  <a:lnTo>
                    <a:pt x="9171432" y="0"/>
                  </a:lnTo>
                  <a:lnTo>
                    <a:pt x="917143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149" r="0" b="-1671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71432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PLATAFORMA · LO QUE CONSTRUIREMOS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0300" y="3763518"/>
            <a:ext cx="7201173" cy="2380490"/>
            <a:chOff x="0" y="0"/>
            <a:chExt cx="9090180" cy="30049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90180" cy="3004938"/>
            </a:xfrm>
            <a:custGeom>
              <a:avLst/>
              <a:gdLst/>
              <a:ahLst/>
              <a:cxnLst/>
              <a:rect r="r" b="b" t="t" l="l"/>
              <a:pathLst>
                <a:path h="3004938" w="9090180">
                  <a:moveTo>
                    <a:pt x="0" y="0"/>
                  </a:moveTo>
                  <a:lnTo>
                    <a:pt x="9090180" y="0"/>
                  </a:lnTo>
                  <a:lnTo>
                    <a:pt x="9090180" y="3004938"/>
                  </a:lnTo>
                  <a:lnTo>
                    <a:pt x="0" y="30049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59" t="0" r="-4653" b="-278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90180" cy="30430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Administrará usuarios, solicitudes, autorizaciones y procesos de posventa.</a:t>
              </a:r>
            </a:p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Aplicará roles y permisos según el área o cargo.</a:t>
              </a:r>
            </a:p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Registrará responsables, fechas, estados y acciones.</a:t>
              </a:r>
            </a:p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Centralizará notificaciones y trazabilidad.</a:t>
              </a:r>
            </a:p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Permitirá consultar y transferir información de manera controlada.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75089" y="2733675"/>
            <a:ext cx="7994904" cy="4339590"/>
            <a:chOff x="0" y="0"/>
            <a:chExt cx="10659872" cy="5786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59872" cy="5786120"/>
            </a:xfrm>
            <a:custGeom>
              <a:avLst/>
              <a:gdLst/>
              <a:ahLst/>
              <a:cxnLst/>
              <a:rect r="r" b="b" t="t" l="l"/>
              <a:pathLst>
                <a:path h="5786120" w="10659872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512933" y="0"/>
                  </a:lnTo>
                  <a:cubicBezTo>
                    <a:pt x="10594086" y="0"/>
                    <a:pt x="10659872" y="65786"/>
                    <a:pt x="10659872" y="146939"/>
                  </a:cubicBezTo>
                  <a:lnTo>
                    <a:pt x="10659872" y="5639181"/>
                  </a:lnTo>
                  <a:cubicBezTo>
                    <a:pt x="10659872" y="5720334"/>
                    <a:pt x="10594086" y="5786120"/>
                    <a:pt x="10512933" y="5786120"/>
                  </a:cubicBezTo>
                  <a:lnTo>
                    <a:pt x="146939" y="5786120"/>
                  </a:lnTo>
                  <a:cubicBezTo>
                    <a:pt x="65786" y="5786120"/>
                    <a:pt x="0" y="5720334"/>
                    <a:pt x="0" y="5639181"/>
                  </a:cubicBezTo>
                  <a:close/>
                </a:path>
              </a:pathLst>
            </a:custGeom>
            <a:solidFill>
              <a:srgbClr val="FFBE1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026220" y="3127248"/>
            <a:ext cx="6878574" cy="617220"/>
            <a:chOff x="0" y="0"/>
            <a:chExt cx="9171432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71432" cy="822960"/>
            </a:xfrm>
            <a:custGeom>
              <a:avLst/>
              <a:gdLst/>
              <a:ahLst/>
              <a:cxnLst/>
              <a:rect r="r" b="b" t="t" l="l"/>
              <a:pathLst>
                <a:path h="822960" w="9171432">
                  <a:moveTo>
                    <a:pt x="0" y="0"/>
                  </a:moveTo>
                  <a:lnTo>
                    <a:pt x="9171432" y="0"/>
                  </a:lnTo>
                  <a:lnTo>
                    <a:pt x="917143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149" r="0" b="-1671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71432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SAP BUSINESS ONE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3435" y="7465695"/>
            <a:ext cx="16656558" cy="1184910"/>
            <a:chOff x="0" y="0"/>
            <a:chExt cx="22208744" cy="1579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08745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208745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2060027" y="0"/>
                  </a:lnTo>
                  <a:cubicBezTo>
                    <a:pt x="22142197" y="0"/>
                    <a:pt x="22208745" y="66548"/>
                    <a:pt x="22208745" y="148717"/>
                  </a:cubicBezTo>
                  <a:lnTo>
                    <a:pt x="22208745" y="1431163"/>
                  </a:lnTo>
                  <a:cubicBezTo>
                    <a:pt x="22208745" y="1513332"/>
                    <a:pt x="22142197" y="1579880"/>
                    <a:pt x="22060027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FF6E0"/>
            </a:solidFill>
            <a:ln w="19050" cap="sq">
              <a:solidFill>
                <a:srgbClr val="FFF6E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03020" y="7475220"/>
            <a:ext cx="15677388" cy="1165860"/>
            <a:chOff x="0" y="0"/>
            <a:chExt cx="20903184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903185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2016" r="0" b="-2120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903184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0"/>
                </a:lnSpc>
              </a:pPr>
              <a:r>
                <a:rPr lang="en-US" sz="21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 esperado: disminuir el uso de correos y planillas, reducir tareas repetitivas y evitar que todos los usuarios necesiten ingresar directamente a SAP.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32485" y="507492"/>
            <a:ext cx="16637508" cy="521208"/>
            <a:chOff x="0" y="0"/>
            <a:chExt cx="22183344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HAREMOS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990633" y="4962525"/>
            <a:ext cx="30673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  <a:spcBef>
                <a:spcPct val="0"/>
              </a:spcBef>
            </a:pPr>
            <a:r>
              <a:rPr lang="en-US" sz="18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↔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35056" y="6505743"/>
            <a:ext cx="6878574" cy="68580"/>
            <a:chOff x="0" y="0"/>
            <a:chExt cx="1005840" cy="100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28"/>
            </a:xfrm>
            <a:custGeom>
              <a:avLst/>
              <a:gdLst/>
              <a:ahLst/>
              <a:cxnLst/>
              <a:rect r="r" b="b" t="t" l="l"/>
              <a:pathLst>
                <a:path h="100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28"/>
                  </a:lnTo>
                  <a:lnTo>
                    <a:pt x="0" y="10028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26220" y="6505743"/>
            <a:ext cx="6878574" cy="68580"/>
            <a:chOff x="0" y="0"/>
            <a:chExt cx="1005840" cy="100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28"/>
            </a:xfrm>
            <a:custGeom>
              <a:avLst/>
              <a:gdLst/>
              <a:ahLst/>
              <a:cxnLst/>
              <a:rect r="r" b="b" t="t" l="l"/>
              <a:pathLst>
                <a:path h="100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28"/>
                  </a:lnTo>
                  <a:lnTo>
                    <a:pt x="0" y="100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79235" y="3446423"/>
            <a:ext cx="7201173" cy="2697585"/>
            <a:chOff x="0" y="0"/>
            <a:chExt cx="9090180" cy="34052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90180" cy="3405214"/>
            </a:xfrm>
            <a:custGeom>
              <a:avLst/>
              <a:gdLst/>
              <a:ahLst/>
              <a:cxnLst/>
              <a:rect r="r" b="b" t="t" l="l"/>
              <a:pathLst>
                <a:path h="3405214" w="9090180">
                  <a:moveTo>
                    <a:pt x="0" y="0"/>
                  </a:moveTo>
                  <a:lnTo>
                    <a:pt x="9090180" y="0"/>
                  </a:lnTo>
                  <a:lnTo>
                    <a:pt x="9090180" y="3405214"/>
                  </a:lnTo>
                  <a:lnTo>
                    <a:pt x="0" y="34052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59" t="0" r="-4653" b="-1278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090180" cy="3443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Continuará siendo la fuente oficial de información comercial, logíst</a:t>
              </a: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ica y contable.</a:t>
              </a:r>
            </a:p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</a:t>
              </a: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istrará productos, clientes, stock y documentos empresariales.</a:t>
              </a:r>
            </a:p>
            <a:p>
              <a:pPr algn="just" marL="405893" indent="-202946" lvl="1">
                <a:lnSpc>
                  <a:spcPts val="2256"/>
                </a:lnSpc>
                <a:buFont typeface="Arial"/>
                <a:buChar char="•"/>
              </a:pP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18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ecibirá únicamente las operaciones previamente revisadas y autorizadas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850392"/>
            <a:chOff x="0" y="0"/>
            <a:chExt cx="22183344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215" r="0" b="-3312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229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Seis módulos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Alcance funcional comprometido para el proyecto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665095"/>
            <a:ext cx="5244846" cy="2693670"/>
            <a:chOff x="0" y="0"/>
            <a:chExt cx="6993128" cy="3591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3127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444240"/>
                  </a:lnTo>
                  <a:cubicBezTo>
                    <a:pt x="6993127" y="3525647"/>
                    <a:pt x="6927214" y="3591560"/>
                    <a:pt x="684580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61872" y="308610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1872" y="3086100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6444" y="4029984"/>
            <a:ext cx="4347972" cy="949686"/>
            <a:chOff x="0" y="0"/>
            <a:chExt cx="5797296" cy="1266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97296" cy="1266248"/>
            </a:xfrm>
            <a:custGeom>
              <a:avLst/>
              <a:gdLst/>
              <a:ahLst/>
              <a:cxnLst/>
              <a:rect r="r" b="b" t="t" l="l"/>
              <a:pathLst>
                <a:path h="1266248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02" r="0" b="-253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797296" cy="1304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Autenticación y control de acceso según el área, cargo y responsabilidades de cada usuario.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19291" y="2665095"/>
            <a:ext cx="5244846" cy="2693670"/>
            <a:chOff x="0" y="0"/>
            <a:chExt cx="6993128" cy="3591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3127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444240"/>
                  </a:lnTo>
                  <a:cubicBezTo>
                    <a:pt x="6993127" y="3525647"/>
                    <a:pt x="6927214" y="3591560"/>
                    <a:pt x="684580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967728" y="3086100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67728" y="308610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74293" y="3933210"/>
            <a:ext cx="4347972" cy="949686"/>
            <a:chOff x="0" y="0"/>
            <a:chExt cx="5797296" cy="1266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97296" cy="1266248"/>
            </a:xfrm>
            <a:custGeom>
              <a:avLst/>
              <a:gdLst/>
              <a:ahLst/>
              <a:cxnLst/>
              <a:rect r="r" b="b" t="t" l="l"/>
              <a:pathLst>
                <a:path h="1266248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02" r="0" b="-253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97296" cy="1304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Creación, revisión, aprobación, rechazo y corrección de solicitudes, incluyendo estados y responsables.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25147" y="2665095"/>
            <a:ext cx="5244846" cy="2693670"/>
            <a:chOff x="0" y="0"/>
            <a:chExt cx="6993128" cy="3591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93127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444240"/>
                  </a:lnTo>
                  <a:cubicBezTo>
                    <a:pt x="6993127" y="3525647"/>
                    <a:pt x="6927214" y="3591560"/>
                    <a:pt x="684580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673584" y="3086100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673584" y="308610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669012" y="4011930"/>
            <a:ext cx="4347972" cy="949686"/>
            <a:chOff x="0" y="0"/>
            <a:chExt cx="5797296" cy="12662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97296" cy="1266248"/>
            </a:xfrm>
            <a:custGeom>
              <a:avLst/>
              <a:gdLst/>
              <a:ahLst/>
              <a:cxnLst/>
              <a:rect r="r" b="b" t="t" l="l"/>
              <a:pathLst>
                <a:path h="1266248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02" r="0" b="-253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797296" cy="1304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 de productos y clientes, generación de cotizaciones y gestión de solicitudes de órdenes de venta.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3435" y="5751195"/>
            <a:ext cx="5244846" cy="2693670"/>
            <a:chOff x="0" y="0"/>
            <a:chExt cx="6993128" cy="3591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93127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444240"/>
                  </a:lnTo>
                  <a:cubicBezTo>
                    <a:pt x="6993127" y="3525647"/>
                    <a:pt x="6927214" y="3591560"/>
                    <a:pt x="684580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1872" y="6172200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61872" y="6172200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6444" y="7164969"/>
            <a:ext cx="4347972" cy="949686"/>
            <a:chOff x="0" y="0"/>
            <a:chExt cx="5797296" cy="12662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97296" cy="1266248"/>
            </a:xfrm>
            <a:custGeom>
              <a:avLst/>
              <a:gdLst/>
              <a:ahLst/>
              <a:cxnLst/>
              <a:rect r="r" b="b" t="t" l="l"/>
              <a:pathLst>
                <a:path h="1266248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02" r="0" b="-253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797296" cy="1304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Avisos de actividades pendientes e historial de usuarios, fechas, estados, comentarios y acciones realizadas.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519291" y="5751195"/>
            <a:ext cx="5244846" cy="2693670"/>
            <a:chOff x="0" y="0"/>
            <a:chExt cx="6993128" cy="35915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93127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444240"/>
                  </a:lnTo>
                  <a:cubicBezTo>
                    <a:pt x="6993127" y="3525647"/>
                    <a:pt x="6927214" y="3591560"/>
                    <a:pt x="684580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967728" y="617220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967728" y="6172200"/>
            <a:ext cx="685800" cy="685800"/>
            <a:chOff x="0" y="0"/>
            <a:chExt cx="9144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967728" y="7164969"/>
            <a:ext cx="4347972" cy="949686"/>
            <a:chOff x="0" y="0"/>
            <a:chExt cx="5797296" cy="12662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97296" cy="1266248"/>
            </a:xfrm>
            <a:custGeom>
              <a:avLst/>
              <a:gdLst/>
              <a:ahLst/>
              <a:cxnLst/>
              <a:rect r="r" b="b" t="t" l="l"/>
              <a:pathLst>
                <a:path h="1266248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02" r="0" b="-253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797296" cy="1304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 y transferencia controlada de información mediante servicios de integración o un entorno simulado.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25147" y="5751195"/>
            <a:ext cx="5244846" cy="2693670"/>
            <a:chOff x="0" y="0"/>
            <a:chExt cx="6993128" cy="35915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93127" cy="3591560"/>
            </a:xfrm>
            <a:custGeom>
              <a:avLst/>
              <a:gdLst/>
              <a:ahLst/>
              <a:cxnLst/>
              <a:rect r="r" b="b" t="t" l="l"/>
              <a:pathLst>
                <a:path h="359156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444240"/>
                  </a:lnTo>
                  <a:cubicBezTo>
                    <a:pt x="6993127" y="3525647"/>
                    <a:pt x="6927214" y="3591560"/>
                    <a:pt x="6845808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673584" y="6172200"/>
            <a:ext cx="685800" cy="685800"/>
            <a:chOff x="0" y="0"/>
            <a:chExt cx="91440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673584" y="6172200"/>
            <a:ext cx="685800" cy="685800"/>
            <a:chOff x="0" y="0"/>
            <a:chExt cx="91440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444631" y="7066554"/>
            <a:ext cx="4814669" cy="1235436"/>
            <a:chOff x="0" y="0"/>
            <a:chExt cx="6419559" cy="16472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19559" cy="1647248"/>
            </a:xfrm>
            <a:custGeom>
              <a:avLst/>
              <a:gdLst/>
              <a:ahLst/>
              <a:cxnLst/>
              <a:rect r="r" b="b" t="t" l="l"/>
              <a:pathLst>
                <a:path h="1647248" w="6419559">
                  <a:moveTo>
                    <a:pt x="0" y="0"/>
                  </a:moveTo>
                  <a:lnTo>
                    <a:pt x="6419559" y="0"/>
                  </a:lnTo>
                  <a:lnTo>
                    <a:pt x="6419559" y="1647248"/>
                  </a:lnTo>
                  <a:lnTo>
                    <a:pt x="0" y="1647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819" r="9693" b="366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419559" cy="1685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y seguimiento de devoluciones, cambios, servicios técnicos y productos faltantes, incorporando evidencias, autorizaciones, estados y comprobantes con código QR.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2040929" y="3209925"/>
            <a:ext cx="35734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Usuarios, roles y permisos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748778" y="3209925"/>
            <a:ext cx="35734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olicitudes y autorizaciones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454634" y="3209925"/>
            <a:ext cx="35734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</a:t>
            </a: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stión comercial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040929" y="6254115"/>
            <a:ext cx="35734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Notific</a:t>
            </a: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aciones y trazabilidad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748778" y="6254115"/>
            <a:ext cx="357348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Integración con SAP Business One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454634" y="6273356"/>
            <a:ext cx="35734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</a:t>
            </a:r>
            <a:r>
              <a:rPr lang="en-US" b="true" sz="240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stión de Posventa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31910"/>
            <a:ext cx="5486400" cy="2057400"/>
            <a:chOff x="0" y="0"/>
            <a:chExt cx="731520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731520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3657760"/>
            <a:ext cx="6515100" cy="1097280"/>
            <a:chOff x="0" y="0"/>
            <a:chExt cx="868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8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-100000" b="-18138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86868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Tecnol</a:t>
              </a: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ogías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5143500"/>
            <a:ext cx="13030200" cy="685800"/>
            <a:chOff x="0" y="0"/>
            <a:chExt cx="173736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37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Tecnologías, integración y arquitectura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92703" y="1739007"/>
            <a:ext cx="8885646" cy="5953597"/>
            <a:chOff x="0" y="0"/>
            <a:chExt cx="1169937" cy="7838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9938" cy="783886"/>
            </a:xfrm>
            <a:custGeom>
              <a:avLst/>
              <a:gdLst/>
              <a:ahLst/>
              <a:cxnLst/>
              <a:rect r="r" b="b" t="t" l="l"/>
              <a:pathLst>
                <a:path h="783886" w="1169938">
                  <a:moveTo>
                    <a:pt x="0" y="0"/>
                  </a:moveTo>
                  <a:lnTo>
                    <a:pt x="1169938" y="0"/>
                  </a:lnTo>
                  <a:lnTo>
                    <a:pt x="1169938" y="783886"/>
                  </a:lnTo>
                  <a:lnTo>
                    <a:pt x="0" y="783886"/>
                  </a:lnTo>
                  <a:close/>
                </a:path>
              </a:pathLst>
            </a:custGeom>
            <a:blipFill>
              <a:blip r:embed="rId5"/>
              <a:stretch>
                <a:fillRect l="-251" t="0" r="-251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Tecnologías que utilizaremos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Herramient</a:t>
              </a: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 seleccionadas para desarrollar, documentar e integrar la solución, sin requerir nuevas licencias para el equipo.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733675"/>
            <a:ext cx="5244846" cy="2672715"/>
            <a:chOff x="0" y="0"/>
            <a:chExt cx="6993128" cy="3563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3128" cy="3563620"/>
            </a:xfrm>
            <a:custGeom>
              <a:avLst/>
              <a:gdLst/>
              <a:ahLst/>
              <a:cxnLst/>
              <a:rect r="r" b="b" t="t" l="l"/>
              <a:pathLst>
                <a:path h="3563620" w="6993128">
                  <a:moveTo>
                    <a:pt x="0" y="154149"/>
                  </a:moveTo>
                  <a:cubicBezTo>
                    <a:pt x="0" y="69042"/>
                    <a:pt x="66040" y="0"/>
                    <a:pt x="147447" y="0"/>
                  </a:cubicBezTo>
                  <a:lnTo>
                    <a:pt x="6845681" y="0"/>
                  </a:lnTo>
                  <a:cubicBezTo>
                    <a:pt x="6927088" y="0"/>
                    <a:pt x="6993128" y="69042"/>
                    <a:pt x="6993128" y="154149"/>
                  </a:cubicBezTo>
                  <a:lnTo>
                    <a:pt x="6993128" y="3409471"/>
                  </a:lnTo>
                  <a:cubicBezTo>
                    <a:pt x="6993128" y="3494578"/>
                    <a:pt x="6927088" y="3563620"/>
                    <a:pt x="6845681" y="3563620"/>
                  </a:cubicBezTo>
                  <a:lnTo>
                    <a:pt x="147447" y="3563620"/>
                  </a:lnTo>
                  <a:cubicBezTo>
                    <a:pt x="66040" y="3563620"/>
                    <a:pt x="0" y="3494578"/>
                    <a:pt x="0" y="3409471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3127248"/>
            <a:ext cx="4402836" cy="384048"/>
            <a:chOff x="0" y="0"/>
            <a:chExt cx="5870448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70448" cy="512064"/>
            </a:xfrm>
            <a:custGeom>
              <a:avLst/>
              <a:gdLst/>
              <a:ahLst/>
              <a:cxnLst/>
              <a:rect r="r" b="b" t="t" l="l"/>
              <a:pathLst>
                <a:path h="5120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82" r="0" b="-1733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870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3566160"/>
            <a:ext cx="4402836" cy="617220"/>
            <a:chOff x="0" y="0"/>
            <a:chExt cx="5870448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70448" cy="822960"/>
            </a:xfrm>
            <a:custGeom>
              <a:avLst/>
              <a:gdLst/>
              <a:ahLst/>
              <a:cxnLst/>
              <a:rect r="r" b="b" t="t" l="l"/>
              <a:pathLst>
                <a:path h="82296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993" r="0" b="-889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870448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HTML, CSS, Jav</a:t>
              </a: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aScript y Bootstrap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4193814"/>
            <a:ext cx="4576191" cy="983191"/>
            <a:chOff x="0" y="0"/>
            <a:chExt cx="6101588" cy="13109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01588" cy="1310921"/>
            </a:xfrm>
            <a:custGeom>
              <a:avLst/>
              <a:gdLst/>
              <a:ahLst/>
              <a:cxnLst/>
              <a:rect r="r" b="b" t="t" l="l"/>
              <a:pathLst>
                <a:path h="1310921" w="6101588">
                  <a:moveTo>
                    <a:pt x="0" y="0"/>
                  </a:moveTo>
                  <a:lnTo>
                    <a:pt x="6101588" y="0"/>
                  </a:lnTo>
                  <a:lnTo>
                    <a:pt x="6101588" y="1310921"/>
                  </a:lnTo>
                  <a:lnTo>
                    <a:pt x="0" y="13109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379" r="3788" b="-221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101588" cy="1358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Construcción de interfaces web adaptables, formularios, paneles y visualización de información.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9291" y="2733675"/>
            <a:ext cx="5244846" cy="2672715"/>
            <a:chOff x="0" y="0"/>
            <a:chExt cx="6993128" cy="35636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93128" cy="3563620"/>
            </a:xfrm>
            <a:custGeom>
              <a:avLst/>
              <a:gdLst/>
              <a:ahLst/>
              <a:cxnLst/>
              <a:rect r="r" b="b" t="t" l="l"/>
              <a:pathLst>
                <a:path h="3563620" w="6993128">
                  <a:moveTo>
                    <a:pt x="0" y="154149"/>
                  </a:moveTo>
                  <a:cubicBezTo>
                    <a:pt x="0" y="69042"/>
                    <a:pt x="66040" y="0"/>
                    <a:pt x="147447" y="0"/>
                  </a:cubicBezTo>
                  <a:lnTo>
                    <a:pt x="6845681" y="0"/>
                  </a:lnTo>
                  <a:cubicBezTo>
                    <a:pt x="6927088" y="0"/>
                    <a:pt x="6993128" y="69042"/>
                    <a:pt x="6993128" y="154149"/>
                  </a:cubicBezTo>
                  <a:lnTo>
                    <a:pt x="6993128" y="3409471"/>
                  </a:lnTo>
                  <a:cubicBezTo>
                    <a:pt x="6993128" y="3494578"/>
                    <a:pt x="6927088" y="3563620"/>
                    <a:pt x="6845681" y="3563620"/>
                  </a:cubicBezTo>
                  <a:lnTo>
                    <a:pt x="147447" y="3563620"/>
                  </a:lnTo>
                  <a:cubicBezTo>
                    <a:pt x="66040" y="3563620"/>
                    <a:pt x="0" y="3494578"/>
                    <a:pt x="0" y="3409471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40296" y="3127248"/>
            <a:ext cx="4402836" cy="384048"/>
            <a:chOff x="0" y="0"/>
            <a:chExt cx="5870448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70448" cy="512064"/>
            </a:xfrm>
            <a:custGeom>
              <a:avLst/>
              <a:gdLst/>
              <a:ahLst/>
              <a:cxnLst/>
              <a:rect r="r" b="b" t="t" l="l"/>
              <a:pathLst>
                <a:path h="5120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82" r="0" b="-1733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870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40296" y="3509010"/>
            <a:ext cx="4402836" cy="617220"/>
            <a:chOff x="0" y="0"/>
            <a:chExt cx="5870448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70448" cy="822960"/>
            </a:xfrm>
            <a:custGeom>
              <a:avLst/>
              <a:gdLst/>
              <a:ahLst/>
              <a:cxnLst/>
              <a:rect r="r" b="b" t="t" l="l"/>
              <a:pathLst>
                <a:path h="82296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993" r="0" b="-8899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87044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</a:t>
              </a: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 con Django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42582" y="4193814"/>
            <a:ext cx="4402836" cy="983191"/>
            <a:chOff x="0" y="0"/>
            <a:chExt cx="5870448" cy="13109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70448" cy="1310921"/>
            </a:xfrm>
            <a:custGeom>
              <a:avLst/>
              <a:gdLst/>
              <a:ahLst/>
              <a:cxnLst/>
              <a:rect r="r" b="b" t="t" l="l"/>
              <a:pathLst>
                <a:path h="1310921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310921"/>
                  </a:lnTo>
                  <a:lnTo>
                    <a:pt x="0" y="13109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379" r="0" b="-2213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870448" cy="1358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Implementación de la lógica de negocio, autenticación, permisos, flujos de autorización y servicios de integración.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25147" y="2733675"/>
            <a:ext cx="5244846" cy="2672715"/>
            <a:chOff x="0" y="0"/>
            <a:chExt cx="6993128" cy="35636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93128" cy="3563620"/>
            </a:xfrm>
            <a:custGeom>
              <a:avLst/>
              <a:gdLst/>
              <a:ahLst/>
              <a:cxnLst/>
              <a:rect r="r" b="b" t="t" l="l"/>
              <a:pathLst>
                <a:path h="3563620" w="6993128">
                  <a:moveTo>
                    <a:pt x="0" y="154149"/>
                  </a:moveTo>
                  <a:cubicBezTo>
                    <a:pt x="0" y="69042"/>
                    <a:pt x="66040" y="0"/>
                    <a:pt x="147447" y="0"/>
                  </a:cubicBezTo>
                  <a:lnTo>
                    <a:pt x="6845681" y="0"/>
                  </a:lnTo>
                  <a:cubicBezTo>
                    <a:pt x="6927088" y="0"/>
                    <a:pt x="6993128" y="69042"/>
                    <a:pt x="6993128" y="154149"/>
                  </a:cubicBezTo>
                  <a:lnTo>
                    <a:pt x="6993128" y="3409471"/>
                  </a:lnTo>
                  <a:cubicBezTo>
                    <a:pt x="6993128" y="3494578"/>
                    <a:pt x="6927088" y="3563620"/>
                    <a:pt x="6845681" y="3563620"/>
                  </a:cubicBezTo>
                  <a:lnTo>
                    <a:pt x="147447" y="3563620"/>
                  </a:lnTo>
                  <a:cubicBezTo>
                    <a:pt x="66040" y="3563620"/>
                    <a:pt x="0" y="3494578"/>
                    <a:pt x="0" y="3409471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508780" y="3127248"/>
            <a:ext cx="4402836" cy="384048"/>
            <a:chOff x="0" y="0"/>
            <a:chExt cx="5870448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70448" cy="512064"/>
            </a:xfrm>
            <a:custGeom>
              <a:avLst/>
              <a:gdLst/>
              <a:ahLst/>
              <a:cxnLst/>
              <a:rect r="r" b="b" t="t" l="l"/>
              <a:pathLst>
                <a:path h="5120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82" r="0" b="-1733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870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508780" y="3538728"/>
            <a:ext cx="4402836" cy="617220"/>
            <a:chOff x="0" y="0"/>
            <a:chExt cx="5870448" cy="822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70448" cy="822960"/>
            </a:xfrm>
            <a:custGeom>
              <a:avLst/>
              <a:gdLst/>
              <a:ahLst/>
              <a:cxnLst/>
              <a:rect r="r" b="b" t="t" l="l"/>
              <a:pathLst>
                <a:path h="82296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993" r="0" b="-8899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870448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</a:t>
              </a: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508780" y="4237629"/>
            <a:ext cx="4750520" cy="983191"/>
            <a:chOff x="0" y="0"/>
            <a:chExt cx="6334027" cy="13109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34027" cy="1310921"/>
            </a:xfrm>
            <a:custGeom>
              <a:avLst/>
              <a:gdLst/>
              <a:ahLst/>
              <a:cxnLst/>
              <a:rect r="r" b="b" t="t" l="l"/>
              <a:pathLst>
                <a:path h="1310921" w="6334027">
                  <a:moveTo>
                    <a:pt x="0" y="0"/>
                  </a:moveTo>
                  <a:lnTo>
                    <a:pt x="6334027" y="0"/>
                  </a:lnTo>
                  <a:lnTo>
                    <a:pt x="6334027" y="1310921"/>
                  </a:lnTo>
                  <a:lnTo>
                    <a:pt x="0" y="13109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379" r="7318" b="-2213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334027" cy="1358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Almacenamiento de usuarios, solicitudes, estados, notificaciones, evidencias y datos internos de la plataforma.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3435" y="5682615"/>
            <a:ext cx="5244846" cy="2868238"/>
            <a:chOff x="0" y="0"/>
            <a:chExt cx="6993128" cy="38243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93128" cy="3824317"/>
            </a:xfrm>
            <a:custGeom>
              <a:avLst/>
              <a:gdLst/>
              <a:ahLst/>
              <a:cxnLst/>
              <a:rect r="r" b="b" t="t" l="l"/>
              <a:pathLst>
                <a:path h="3824317" w="6993128">
                  <a:moveTo>
                    <a:pt x="0" y="165426"/>
                  </a:moveTo>
                  <a:cubicBezTo>
                    <a:pt x="0" y="74093"/>
                    <a:pt x="66040" y="0"/>
                    <a:pt x="147447" y="0"/>
                  </a:cubicBezTo>
                  <a:lnTo>
                    <a:pt x="6845681" y="0"/>
                  </a:lnTo>
                  <a:cubicBezTo>
                    <a:pt x="6927088" y="0"/>
                    <a:pt x="6993128" y="74093"/>
                    <a:pt x="6993128" y="165426"/>
                  </a:cubicBezTo>
                  <a:lnTo>
                    <a:pt x="6993128" y="3658892"/>
                  </a:lnTo>
                  <a:cubicBezTo>
                    <a:pt x="6993128" y="3750225"/>
                    <a:pt x="6927088" y="3824317"/>
                    <a:pt x="6845681" y="3824317"/>
                  </a:cubicBezTo>
                  <a:lnTo>
                    <a:pt x="147447" y="3824317"/>
                  </a:lnTo>
                  <a:cubicBezTo>
                    <a:pt x="66040" y="3824317"/>
                    <a:pt x="0" y="3750225"/>
                    <a:pt x="0" y="3658892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440" y="6076188"/>
            <a:ext cx="4402836" cy="384048"/>
            <a:chOff x="0" y="0"/>
            <a:chExt cx="5870448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70448" cy="512064"/>
            </a:xfrm>
            <a:custGeom>
              <a:avLst/>
              <a:gdLst/>
              <a:ahLst/>
              <a:cxnLst/>
              <a:rect r="r" b="b" t="t" l="l"/>
              <a:pathLst>
                <a:path h="5120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82" r="0" b="-1733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870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0150" y="6404610"/>
            <a:ext cx="4402836" cy="997753"/>
            <a:chOff x="0" y="0"/>
            <a:chExt cx="5870448" cy="13303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70448" cy="1330337"/>
            </a:xfrm>
            <a:custGeom>
              <a:avLst/>
              <a:gdLst/>
              <a:ahLst/>
              <a:cxnLst/>
              <a:rect r="r" b="b" t="t" l="l"/>
              <a:pathLst>
                <a:path h="1330337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330337"/>
                  </a:lnTo>
                  <a:lnTo>
                    <a:pt x="0" y="13303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052" r="0" b="-1691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5870448" cy="138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SAP Business One 10.0 sobre SAP HANA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0630" y="7327011"/>
            <a:ext cx="4402836" cy="983191"/>
            <a:chOff x="0" y="0"/>
            <a:chExt cx="5870448" cy="131092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70448" cy="1310921"/>
            </a:xfrm>
            <a:custGeom>
              <a:avLst/>
              <a:gdLst/>
              <a:ahLst/>
              <a:cxnLst/>
              <a:rect r="r" b="b" t="t" l="l"/>
              <a:pathLst>
                <a:path h="1310921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310921"/>
                  </a:lnTo>
                  <a:lnTo>
                    <a:pt x="0" y="13109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379" r="0" b="-2213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870448" cy="1358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Fuente oficial de información comercial, logística y contable utilizada por la organización.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19291" y="5682615"/>
            <a:ext cx="5244846" cy="2868238"/>
            <a:chOff x="0" y="0"/>
            <a:chExt cx="6993128" cy="382431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93128" cy="3824317"/>
            </a:xfrm>
            <a:custGeom>
              <a:avLst/>
              <a:gdLst/>
              <a:ahLst/>
              <a:cxnLst/>
              <a:rect r="r" b="b" t="t" l="l"/>
              <a:pathLst>
                <a:path h="3824317" w="6993128">
                  <a:moveTo>
                    <a:pt x="0" y="165426"/>
                  </a:moveTo>
                  <a:cubicBezTo>
                    <a:pt x="0" y="74093"/>
                    <a:pt x="66040" y="0"/>
                    <a:pt x="147447" y="0"/>
                  </a:cubicBezTo>
                  <a:lnTo>
                    <a:pt x="6845681" y="0"/>
                  </a:lnTo>
                  <a:cubicBezTo>
                    <a:pt x="6927088" y="0"/>
                    <a:pt x="6993128" y="74093"/>
                    <a:pt x="6993128" y="165426"/>
                  </a:cubicBezTo>
                  <a:lnTo>
                    <a:pt x="6993128" y="3658892"/>
                  </a:lnTo>
                  <a:cubicBezTo>
                    <a:pt x="6993128" y="3750225"/>
                    <a:pt x="6927088" y="3824317"/>
                    <a:pt x="6845681" y="3824317"/>
                  </a:cubicBezTo>
                  <a:lnTo>
                    <a:pt x="147447" y="3824317"/>
                  </a:lnTo>
                  <a:cubicBezTo>
                    <a:pt x="66040" y="3824317"/>
                    <a:pt x="0" y="3750225"/>
                    <a:pt x="0" y="3658892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940296" y="6076188"/>
            <a:ext cx="4402836" cy="384048"/>
            <a:chOff x="0" y="0"/>
            <a:chExt cx="5870448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70448" cy="512064"/>
            </a:xfrm>
            <a:custGeom>
              <a:avLst/>
              <a:gdLst/>
              <a:ahLst/>
              <a:cxnLst/>
              <a:rect r="r" b="b" t="t" l="l"/>
              <a:pathLst>
                <a:path h="5120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82" r="0" b="-17338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870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DE VERSIONES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942582" y="6460236"/>
            <a:ext cx="4402836" cy="997753"/>
            <a:chOff x="0" y="0"/>
            <a:chExt cx="5870448" cy="133033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70448" cy="1330337"/>
            </a:xfrm>
            <a:custGeom>
              <a:avLst/>
              <a:gdLst/>
              <a:ahLst/>
              <a:cxnLst/>
              <a:rect r="r" b="b" t="t" l="l"/>
              <a:pathLst>
                <a:path h="1330337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330337"/>
                  </a:lnTo>
                  <a:lnTo>
                    <a:pt x="0" y="13303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052" r="0" b="-1691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5870448" cy="138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 y GitHub, en repositorio privado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940296" y="7379208"/>
            <a:ext cx="4402836" cy="949686"/>
            <a:chOff x="0" y="0"/>
            <a:chExt cx="5870448" cy="12662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870448" cy="1266248"/>
            </a:xfrm>
            <a:custGeom>
              <a:avLst/>
              <a:gdLst/>
              <a:ahLst/>
              <a:cxnLst/>
              <a:rect r="r" b="b" t="t" l="l"/>
              <a:pathLst>
                <a:path h="1266248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227" r="0" b="-2644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870448" cy="1304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de cambios, integración del trabajo, distribución de tareas y respaldo del desarrollo.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225147" y="5682615"/>
            <a:ext cx="5244846" cy="2868238"/>
            <a:chOff x="0" y="0"/>
            <a:chExt cx="6993128" cy="382431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93128" cy="3824317"/>
            </a:xfrm>
            <a:custGeom>
              <a:avLst/>
              <a:gdLst/>
              <a:ahLst/>
              <a:cxnLst/>
              <a:rect r="r" b="b" t="t" l="l"/>
              <a:pathLst>
                <a:path h="3824317" w="6993128">
                  <a:moveTo>
                    <a:pt x="0" y="165426"/>
                  </a:moveTo>
                  <a:cubicBezTo>
                    <a:pt x="0" y="74093"/>
                    <a:pt x="66040" y="0"/>
                    <a:pt x="147447" y="0"/>
                  </a:cubicBezTo>
                  <a:lnTo>
                    <a:pt x="6845681" y="0"/>
                  </a:lnTo>
                  <a:cubicBezTo>
                    <a:pt x="6927088" y="0"/>
                    <a:pt x="6993128" y="74093"/>
                    <a:pt x="6993128" y="165426"/>
                  </a:cubicBezTo>
                  <a:lnTo>
                    <a:pt x="6993128" y="3658892"/>
                  </a:lnTo>
                  <a:cubicBezTo>
                    <a:pt x="6993128" y="3750225"/>
                    <a:pt x="6927088" y="3824317"/>
                    <a:pt x="6845681" y="3824317"/>
                  </a:cubicBezTo>
                  <a:lnTo>
                    <a:pt x="147447" y="3824317"/>
                  </a:lnTo>
                  <a:cubicBezTo>
                    <a:pt x="66040" y="3824317"/>
                    <a:pt x="0" y="3750225"/>
                    <a:pt x="0" y="3658892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646152" y="6076188"/>
            <a:ext cx="4402836" cy="384048"/>
            <a:chOff x="0" y="0"/>
            <a:chExt cx="5870448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70448" cy="512064"/>
            </a:xfrm>
            <a:custGeom>
              <a:avLst/>
              <a:gdLst/>
              <a:ahLst/>
              <a:cxnLst/>
              <a:rect r="r" b="b" t="t" l="l"/>
              <a:pathLst>
                <a:path h="5120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82" r="0" b="-17338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5870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MODELAMIENTO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646152" y="6404610"/>
            <a:ext cx="4402836" cy="973773"/>
            <a:chOff x="0" y="0"/>
            <a:chExt cx="5870448" cy="12983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70448" cy="1298364"/>
            </a:xfrm>
            <a:custGeom>
              <a:avLst/>
              <a:gdLst/>
              <a:ahLst/>
              <a:cxnLst/>
              <a:rect r="r" b="b" t="t" l="l"/>
              <a:pathLst>
                <a:path h="1298364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298364"/>
                  </a:lnTo>
                  <a:lnTo>
                    <a:pt x="0" y="12983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407" r="0" b="-1979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5870448" cy="136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7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</a:t>
              </a:r>
              <a:r>
                <a:rPr lang="en-US" sz="27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rams.net, UML, BPMN y Figma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649962" y="7379208"/>
            <a:ext cx="4402836" cy="983191"/>
            <a:chOff x="0" y="0"/>
            <a:chExt cx="5870448" cy="131092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70448" cy="1310921"/>
            </a:xfrm>
            <a:custGeom>
              <a:avLst/>
              <a:gdLst/>
              <a:ahLst/>
              <a:cxnLst/>
              <a:rect r="r" b="b" t="t" l="l"/>
              <a:pathLst>
                <a:path h="1310921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310921"/>
                  </a:lnTo>
                  <a:lnTo>
                    <a:pt x="0" y="13109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379" r="0" b="-2213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5870448" cy="1358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Elaboración de diagramas, modelos de procesos, arquitectura, flujos y prototipos de interfaces.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22960" y="8826164"/>
            <a:ext cx="14430232" cy="776121"/>
            <a:chOff x="0" y="0"/>
            <a:chExt cx="16459200" cy="8852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459200" cy="885248"/>
            </a:xfrm>
            <a:custGeom>
              <a:avLst/>
              <a:gdLst/>
              <a:ahLst/>
              <a:cxnLst/>
              <a:rect r="r" b="b" t="t" l="l"/>
              <a:pathLst>
                <a:path h="88524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85248"/>
                  </a:lnTo>
                  <a:lnTo>
                    <a:pt x="0" y="885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127" r="0" b="-29843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6459200" cy="932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i="true">
                  <a:solidFill>
                    <a:srgbClr val="6666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SAP Bus</a:t>
              </a:r>
              <a:r>
                <a:rPr lang="en-US" sz="1974" i="true">
                  <a:solidFill>
                    <a:srgbClr val="6666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iness One corresponde a una plataforma existente en GGH. Si no se dispone de acceso al ambiente real, la integración será validada mediante servicios simulados y datos ficticios.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3435" y="541677"/>
            <a:ext cx="10043654" cy="907647"/>
            <a:chOff x="0" y="0"/>
            <a:chExt cx="13391539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91538" cy="1210196"/>
            </a:xfrm>
            <a:custGeom>
              <a:avLst/>
              <a:gdLst/>
              <a:ahLst/>
              <a:cxnLst/>
              <a:rect r="r" b="b" t="t" l="l"/>
              <a:pathLst>
                <a:path h="1210196" w="13391538">
                  <a:moveTo>
                    <a:pt x="0" y="0"/>
                  </a:moveTo>
                  <a:lnTo>
                    <a:pt x="13391538" y="0"/>
                  </a:lnTo>
                  <a:lnTo>
                    <a:pt x="13391538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-65651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13391539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Integración con SAP Business One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d</a:t>
              </a: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ecisión central del diseño será separar la lectura de la escritura.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89255" y="744855"/>
            <a:ext cx="4380738" cy="595122"/>
            <a:chOff x="0" y="0"/>
            <a:chExt cx="5840984" cy="793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40984" cy="793496"/>
            </a:xfrm>
            <a:custGeom>
              <a:avLst/>
              <a:gdLst/>
              <a:ahLst/>
              <a:cxnLst/>
              <a:rect r="r" b="b" t="t" l="l"/>
              <a:pathLst>
                <a:path h="793496" w="5840984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5652008" y="0"/>
                  </a:lnTo>
                  <a:cubicBezTo>
                    <a:pt x="5756402" y="0"/>
                    <a:pt x="5840984" y="84582"/>
                    <a:pt x="5840984" y="188976"/>
                  </a:cubicBezTo>
                  <a:lnTo>
                    <a:pt x="5840984" y="604520"/>
                  </a:lnTo>
                  <a:cubicBezTo>
                    <a:pt x="5840984" y="708914"/>
                    <a:pt x="5756402" y="793496"/>
                    <a:pt x="5652008" y="793496"/>
                  </a:cubicBezTo>
                  <a:lnTo>
                    <a:pt x="188976" y="793496"/>
                  </a:lnTo>
                  <a:cubicBezTo>
                    <a:pt x="84582" y="793496"/>
                    <a:pt x="0" y="708914"/>
                    <a:pt x="0" y="604520"/>
                  </a:cubicBezTo>
                  <a:close/>
                </a:path>
              </a:pathLst>
            </a:custGeom>
            <a:solidFill>
              <a:srgbClr val="FFF6E0"/>
            </a:solidFill>
            <a:ln w="19050" cap="sq">
              <a:solidFill>
                <a:srgbClr val="F8B3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098780" y="754380"/>
            <a:ext cx="4361688" cy="576072"/>
            <a:chOff x="0" y="0"/>
            <a:chExt cx="5815584" cy="7680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15584" cy="768096"/>
            </a:xfrm>
            <a:custGeom>
              <a:avLst/>
              <a:gdLst/>
              <a:ahLst/>
              <a:cxnLst/>
              <a:rect r="r" b="b" t="t" l="l"/>
              <a:pathLst>
                <a:path h="768096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815584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proyectado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3556635"/>
            <a:ext cx="4271010" cy="3173730"/>
            <a:chOff x="0" y="0"/>
            <a:chExt cx="5694680" cy="4231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946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56946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547487" y="0"/>
                  </a:lnTo>
                  <a:cubicBezTo>
                    <a:pt x="5628767" y="0"/>
                    <a:pt x="5694680" y="65913"/>
                    <a:pt x="5694680" y="147193"/>
                  </a:cubicBezTo>
                  <a:lnTo>
                    <a:pt x="5694680" y="4084447"/>
                  </a:lnTo>
                  <a:cubicBezTo>
                    <a:pt x="5694680" y="4165727"/>
                    <a:pt x="5628767" y="4231640"/>
                    <a:pt x="55474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BE1E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" y="3566160"/>
            <a:ext cx="3566160" cy="3154680"/>
            <a:chOff x="0" y="0"/>
            <a:chExt cx="4754880" cy="4206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754880" cy="427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Plataforma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GGH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98983" y="3556635"/>
            <a:ext cx="4271010" cy="3173730"/>
            <a:chOff x="0" y="0"/>
            <a:chExt cx="5694680" cy="4231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946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56946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547487" y="0"/>
                  </a:lnTo>
                  <a:cubicBezTo>
                    <a:pt x="5628767" y="0"/>
                    <a:pt x="5694680" y="65913"/>
                    <a:pt x="5694680" y="147193"/>
                  </a:cubicBezTo>
                  <a:lnTo>
                    <a:pt x="5694680" y="4084447"/>
                  </a:lnTo>
                  <a:cubicBezTo>
                    <a:pt x="5694680" y="4165727"/>
                    <a:pt x="5628767" y="4231640"/>
                    <a:pt x="55474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551408" y="3566160"/>
            <a:ext cx="3566160" cy="3154680"/>
            <a:chOff x="0" y="0"/>
            <a:chExt cx="4754880" cy="4206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754880" cy="4272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SAP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One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545455" y="3556635"/>
            <a:ext cx="7315962" cy="1596390"/>
            <a:chOff x="0" y="0"/>
            <a:chExt cx="9754616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4615" cy="2128520"/>
            </a:xfrm>
            <a:custGeom>
              <a:avLst/>
              <a:gdLst/>
              <a:ahLst/>
              <a:cxnLst/>
              <a:rect r="r" b="b" t="t" l="l"/>
              <a:pathLst>
                <a:path h="2128520" w="9754615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9606534" y="0"/>
                  </a:lnTo>
                  <a:cubicBezTo>
                    <a:pt x="9688322" y="0"/>
                    <a:pt x="9754615" y="66294"/>
                    <a:pt x="9754615" y="148082"/>
                  </a:cubicBezTo>
                  <a:lnTo>
                    <a:pt x="9754615" y="1980438"/>
                  </a:lnTo>
                  <a:cubicBezTo>
                    <a:pt x="9754615" y="2062226"/>
                    <a:pt x="9688322" y="2128520"/>
                    <a:pt x="9606534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939028" y="3744468"/>
            <a:ext cx="6528816" cy="342900"/>
            <a:chOff x="0" y="0"/>
            <a:chExt cx="8705088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05088" cy="457200"/>
            </a:xfrm>
            <a:custGeom>
              <a:avLst/>
              <a:gdLst/>
              <a:ahLst/>
              <a:cxnLst/>
              <a:rect r="r" b="b" t="t" l="l"/>
              <a:pathLst>
                <a:path h="457200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995" r="0" b="-3209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70508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LECTURA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939028" y="4059936"/>
            <a:ext cx="6528816" cy="480268"/>
            <a:chOff x="0" y="0"/>
            <a:chExt cx="8705088" cy="6403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05088" cy="640358"/>
            </a:xfrm>
            <a:custGeom>
              <a:avLst/>
              <a:gdLst/>
              <a:ahLst/>
              <a:cxnLst/>
              <a:rect r="r" b="b" t="t" l="l"/>
              <a:pathLst>
                <a:path h="640358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187" r="0" b="-21057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0508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propia sobre SAP HANA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939028" y="4526280"/>
            <a:ext cx="6528816" cy="548640"/>
            <a:chOff x="0" y="0"/>
            <a:chExt cx="8705088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05088" cy="731520"/>
            </a:xfrm>
            <a:custGeom>
              <a:avLst/>
              <a:gdLst/>
              <a:ahLst/>
              <a:cxnLst/>
              <a:rect r="r" b="b" t="t" l="l"/>
              <a:pathLst>
                <a:path h="731520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7050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Consultas de stock, precios y documentos. Sin modificar nada 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545455" y="5408295"/>
            <a:ext cx="7315962" cy="1596390"/>
            <a:chOff x="0" y="0"/>
            <a:chExt cx="9754616" cy="2128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4615" cy="2128520"/>
            </a:xfrm>
            <a:custGeom>
              <a:avLst/>
              <a:gdLst/>
              <a:ahLst/>
              <a:cxnLst/>
              <a:rect r="r" b="b" t="t" l="l"/>
              <a:pathLst>
                <a:path h="2128520" w="9754615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9606534" y="0"/>
                  </a:lnTo>
                  <a:cubicBezTo>
                    <a:pt x="9688322" y="0"/>
                    <a:pt x="9754615" y="66294"/>
                    <a:pt x="9754615" y="148082"/>
                  </a:cubicBezTo>
                  <a:lnTo>
                    <a:pt x="9754615" y="1980438"/>
                  </a:lnTo>
                  <a:cubicBezTo>
                    <a:pt x="9754615" y="2062226"/>
                    <a:pt x="9688322" y="2128520"/>
                    <a:pt x="9606534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939028" y="5596128"/>
            <a:ext cx="6528816" cy="342900"/>
            <a:chOff x="0" y="0"/>
            <a:chExt cx="8705088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05088" cy="457200"/>
            </a:xfrm>
            <a:custGeom>
              <a:avLst/>
              <a:gdLst/>
              <a:ahLst/>
              <a:cxnLst/>
              <a:rect r="r" b="b" t="t" l="l"/>
              <a:pathLst>
                <a:path h="457200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995" r="0" b="-3209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70508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ESCRITURA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939028" y="5911596"/>
            <a:ext cx="6528816" cy="480268"/>
            <a:chOff x="0" y="0"/>
            <a:chExt cx="8705088" cy="64035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05088" cy="640358"/>
            </a:xfrm>
            <a:custGeom>
              <a:avLst/>
              <a:gdLst/>
              <a:ahLst/>
              <a:cxnLst/>
              <a:rect r="r" b="b" t="t" l="l"/>
              <a:pathLst>
                <a:path h="640358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187" r="0" b="-2105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70508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SAP </a:t>
              </a: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Layer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939028" y="6327475"/>
            <a:ext cx="6528816" cy="622139"/>
            <a:chOff x="0" y="0"/>
            <a:chExt cx="8705088" cy="8295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05088" cy="829518"/>
            </a:xfrm>
            <a:custGeom>
              <a:avLst/>
              <a:gdLst/>
              <a:ahLst/>
              <a:cxnLst/>
              <a:rect r="r" b="b" t="t" l="l"/>
              <a:pathLst>
                <a:path h="829518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385" r="0" b="-14857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705088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Será el único canal soportado por SAP. Cada documento quedará sujeto a las mismas validaciones que si se digitara en el ERP.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290640">
            <a:off x="5082492" y="4338447"/>
            <a:ext cx="451190" cy="0"/>
          </a:xfrm>
          <a:prstGeom prst="line">
            <a:avLst/>
          </a:prstGeom>
          <a:ln cap="rnd" w="19050">
            <a:solidFill>
              <a:srgbClr val="002138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 rot="417180">
            <a:off x="12872828" y="4338447"/>
            <a:ext cx="314735" cy="0"/>
          </a:xfrm>
          <a:prstGeom prst="line">
            <a:avLst/>
          </a:prstGeom>
          <a:ln cap="rnd" w="19050">
            <a:solidFill>
              <a:srgbClr val="00213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290640">
            <a:off x="5082492" y="6190107"/>
            <a:ext cx="451190" cy="0"/>
          </a:xfrm>
          <a:prstGeom prst="line">
            <a:avLst/>
          </a:prstGeom>
          <a:ln cap="rnd" w="19050">
            <a:solidFill>
              <a:srgbClr val="00213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rot="417180">
            <a:off x="12872828" y="6190107"/>
            <a:ext cx="314735" cy="0"/>
          </a:xfrm>
          <a:prstGeom prst="line">
            <a:avLst/>
          </a:prstGeom>
          <a:ln cap="rnd" w="19050">
            <a:solidFill>
              <a:srgbClr val="00213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822960" y="7650991"/>
            <a:ext cx="14813280" cy="686684"/>
            <a:chOff x="0" y="0"/>
            <a:chExt cx="19751040" cy="91557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751039" cy="915578"/>
            </a:xfrm>
            <a:custGeom>
              <a:avLst/>
              <a:gdLst/>
              <a:ahLst/>
              <a:cxnLst/>
              <a:rect r="r" b="b" t="t" l="l"/>
              <a:pathLst>
                <a:path h="91557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5578"/>
                  </a:lnTo>
                  <a:lnTo>
                    <a:pt x="0" y="9155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0386" r="0" b="-3602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9751040" cy="96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Todo operará</a:t>
              </a: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dentro de la red corporativa. Durante el desarrollo trabajaremos con datos de prueba y, si el ambiente real no está disponible, con servicios simulados.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87913" y="8983980"/>
            <a:ext cx="2172555" cy="534448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850392"/>
            <a:chOff x="0" y="0"/>
            <a:chExt cx="22183344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215" r="0" b="-3312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229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Cuatro niveles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infraestructura y el ERP ya exi</a:t>
              </a: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sten en la empresa GGH. Nosotros construiremos los dos niveles superiores.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733675"/>
            <a:ext cx="11814810" cy="1322070"/>
            <a:chOff x="0" y="0"/>
            <a:chExt cx="15753080" cy="1762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530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57530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5604617" y="0"/>
                  </a:lnTo>
                  <a:cubicBezTo>
                    <a:pt x="15686658" y="0"/>
                    <a:pt x="15753080" y="66421"/>
                    <a:pt x="15753080" y="148463"/>
                  </a:cubicBezTo>
                  <a:lnTo>
                    <a:pt x="15753080" y="1614297"/>
                  </a:lnTo>
                  <a:cubicBezTo>
                    <a:pt x="15753080" y="1696339"/>
                    <a:pt x="15686658" y="1762760"/>
                    <a:pt x="156046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FBE1E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921508"/>
            <a:ext cx="6858000" cy="506713"/>
            <a:chOff x="0" y="0"/>
            <a:chExt cx="9144000" cy="675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0" cy="675618"/>
            </a:xfrm>
            <a:custGeom>
              <a:avLst/>
              <a:gdLst/>
              <a:ahLst/>
              <a:cxnLst/>
              <a:rect r="r" b="b" t="t" l="l"/>
              <a:pathLst>
                <a:path h="67561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75618"/>
                  </a:lnTo>
                  <a:lnTo>
                    <a:pt x="0" y="6756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46" r="0" b="-2110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144000" cy="723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Intranet de gestion · Django y PostgreSQL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3401568"/>
            <a:ext cx="10287000" cy="480060"/>
            <a:chOff x="0" y="0"/>
            <a:chExt cx="137160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16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716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18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oncentrará los flujos con sus estados, autorizaciones y trazabilidad.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61620" y="2743200"/>
            <a:ext cx="2606040" cy="1303020"/>
            <a:chOff x="0" y="0"/>
            <a:chExt cx="3474720" cy="1737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74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4747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Construiremos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3435" y="4242435"/>
            <a:ext cx="11814810" cy="1322070"/>
            <a:chOff x="0" y="0"/>
            <a:chExt cx="15753080" cy="1762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7530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57530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5604617" y="0"/>
                  </a:lnTo>
                  <a:cubicBezTo>
                    <a:pt x="15686658" y="0"/>
                    <a:pt x="15753080" y="66421"/>
                    <a:pt x="15753080" y="148463"/>
                  </a:cubicBezTo>
                  <a:lnTo>
                    <a:pt x="15753080" y="1614297"/>
                  </a:lnTo>
                  <a:cubicBezTo>
                    <a:pt x="15753080" y="1696339"/>
                    <a:pt x="15686658" y="1762760"/>
                    <a:pt x="156046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B3A55"/>
            </a:solidFill>
            <a:ln w="19050" cap="sq">
              <a:solidFill>
                <a:srgbClr val="1B3A5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71600" y="4430268"/>
            <a:ext cx="6858000" cy="506713"/>
            <a:chOff x="0" y="0"/>
            <a:chExt cx="9144000" cy="6756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675618"/>
            </a:xfrm>
            <a:custGeom>
              <a:avLst/>
              <a:gdLst/>
              <a:ahLst/>
              <a:cxnLst/>
              <a:rect r="r" b="b" t="t" l="l"/>
              <a:pathLst>
                <a:path h="67561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75618"/>
                  </a:lnTo>
                  <a:lnTo>
                    <a:pt x="0" y="6756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46" r="0" b="-2110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144000" cy="723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de integración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4910328"/>
            <a:ext cx="10287000" cy="480060"/>
            <a:chOff x="0" y="0"/>
            <a:chExt cx="13716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16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3716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ará el ERP en modo lectura y entregará los datos a la intranet.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961620" y="4251960"/>
            <a:ext cx="2606040" cy="1303020"/>
            <a:chOff x="0" y="0"/>
            <a:chExt cx="3474720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4747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Construiremos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435" y="5751195"/>
            <a:ext cx="11814810" cy="1322070"/>
            <a:chOff x="0" y="0"/>
            <a:chExt cx="15753080" cy="1762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7530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57530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5604617" y="0"/>
                  </a:lnTo>
                  <a:cubicBezTo>
                    <a:pt x="15686658" y="0"/>
                    <a:pt x="15753080" y="66421"/>
                    <a:pt x="15753080" y="148463"/>
                  </a:cubicBezTo>
                  <a:lnTo>
                    <a:pt x="15753080" y="1614297"/>
                  </a:lnTo>
                  <a:cubicBezTo>
                    <a:pt x="15753080" y="1696339"/>
                    <a:pt x="15686658" y="1762760"/>
                    <a:pt x="156046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5939028"/>
            <a:ext cx="6858000" cy="480060"/>
            <a:chOff x="0" y="0"/>
            <a:chExt cx="914400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SAP Business One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6419088"/>
            <a:ext cx="10287000" cy="480060"/>
            <a:chOff x="0" y="0"/>
            <a:chExt cx="1371600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16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716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Seguirá siendo la f</a:t>
              </a: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uente oficial del negocio, con Service Layer como interfaz de integración.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961620" y="5760720"/>
            <a:ext cx="2606040" cy="1303020"/>
            <a:chOff x="0" y="0"/>
            <a:chExt cx="3474720" cy="1737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4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4747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Ya existe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3435" y="7259955"/>
            <a:ext cx="11814810" cy="1322070"/>
            <a:chOff x="0" y="0"/>
            <a:chExt cx="15753080" cy="1762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75308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575308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5604617" y="0"/>
                  </a:lnTo>
                  <a:cubicBezTo>
                    <a:pt x="15686658" y="0"/>
                    <a:pt x="15753080" y="66421"/>
                    <a:pt x="15753080" y="148463"/>
                  </a:cubicBezTo>
                  <a:lnTo>
                    <a:pt x="15753080" y="1614297"/>
                  </a:lnTo>
                  <a:cubicBezTo>
                    <a:pt x="15753080" y="1696339"/>
                    <a:pt x="15686658" y="1762760"/>
                    <a:pt x="156046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7447788"/>
            <a:ext cx="6858000" cy="480060"/>
            <a:chOff x="0" y="0"/>
            <a:chExt cx="914400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Infraestructura interna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7927848"/>
            <a:ext cx="10287000" cy="663936"/>
            <a:chOff x="0" y="0"/>
            <a:chExt cx="13716000" cy="8852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716000" cy="885248"/>
            </a:xfrm>
            <a:custGeom>
              <a:avLst/>
              <a:gdLst/>
              <a:ahLst/>
              <a:cxnLst/>
              <a:rect r="r" b="b" t="t" l="l"/>
              <a:pathLst>
                <a:path h="885248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885248"/>
                  </a:lnTo>
                  <a:lnTo>
                    <a:pt x="0" y="885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747" r="0" b="-23805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3716000" cy="923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Servidores propios de la empresa, con roles separados por función.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961620" y="7269480"/>
            <a:ext cx="2606040" cy="1303020"/>
            <a:chOff x="0" y="0"/>
            <a:chExt cx="3474720" cy="1737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74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4747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Ya existe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13435" y="8953734"/>
            <a:ext cx="11814810" cy="869442"/>
            <a:chOff x="0" y="0"/>
            <a:chExt cx="15753080" cy="11592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7530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57530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15603474" y="0"/>
                  </a:lnTo>
                  <a:cubicBezTo>
                    <a:pt x="15686024" y="0"/>
                    <a:pt x="15753080" y="66929"/>
                    <a:pt x="15753080" y="149606"/>
                  </a:cubicBezTo>
                  <a:lnTo>
                    <a:pt x="15753080" y="1009650"/>
                  </a:lnTo>
                  <a:cubicBezTo>
                    <a:pt x="15753080" y="1092200"/>
                    <a:pt x="15686151" y="1159256"/>
                    <a:pt x="156034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FF6E0"/>
            </a:solidFill>
            <a:ln w="19050" cap="sq">
              <a:solidFill>
                <a:srgbClr val="FFF6E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09782" y="8965708"/>
            <a:ext cx="10835640" cy="850392"/>
            <a:chOff x="0" y="0"/>
            <a:chExt cx="14447520" cy="11338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4475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277" r="0" b="-19827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444752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Ningún componente se publicará en Internet: todo operará dentro de la red corporativa.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5246" y="328041"/>
            <a:ext cx="16637508" cy="521208"/>
            <a:chOff x="0" y="0"/>
            <a:chExt cx="22183344" cy="6949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2183344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SOBRE</a:t>
              </a:r>
              <a:r>
                <a:rPr lang="en-US" sz="1599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QUÉ SE APOYARÁ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96359"/>
            <a:ext cx="5486400" cy="2057400"/>
            <a:chOff x="0" y="0"/>
            <a:chExt cx="731520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731520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3028455"/>
            <a:ext cx="8553557" cy="1097280"/>
            <a:chOff x="0" y="0"/>
            <a:chExt cx="11404743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04743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404743">
                  <a:moveTo>
                    <a:pt x="0" y="0"/>
                  </a:moveTo>
                  <a:lnTo>
                    <a:pt x="11404743" y="0"/>
                  </a:lnTo>
                  <a:lnTo>
                    <a:pt x="11404743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-52336" b="-18138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404743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del proyecto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4295434"/>
            <a:ext cx="7347604" cy="685800"/>
            <a:chOff x="0" y="0"/>
            <a:chExt cx="9796806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96806" cy="914400"/>
            </a:xfrm>
            <a:custGeom>
              <a:avLst/>
              <a:gdLst/>
              <a:ahLst/>
              <a:cxnLst/>
              <a:rect r="r" b="b" t="t" l="l"/>
              <a:pathLst>
                <a:path h="914400" w="9796806">
                  <a:moveTo>
                    <a:pt x="0" y="0"/>
                  </a:moveTo>
                  <a:lnTo>
                    <a:pt x="9796806" y="0"/>
                  </a:lnTo>
                  <a:lnTo>
                    <a:pt x="97968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215" r="-77339" b="-3202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796806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buscamos lograr y qué aplicamos del perfil de egreso.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91137" y="1800406"/>
            <a:ext cx="8189165" cy="6026551"/>
            <a:chOff x="0" y="0"/>
            <a:chExt cx="1104471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447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4471">
                  <a:moveTo>
                    <a:pt x="0" y="0"/>
                  </a:moveTo>
                  <a:lnTo>
                    <a:pt x="1104471" y="0"/>
                  </a:lnTo>
                  <a:lnTo>
                    <a:pt x="110447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7404" t="0" r="-17404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22102"/>
            <a:chOff x="0" y="0"/>
            <a:chExt cx="22183344" cy="12294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29469"/>
            </a:xfrm>
            <a:custGeom>
              <a:avLst/>
              <a:gdLst/>
              <a:ahLst/>
              <a:cxnLst/>
              <a:rect r="r" b="b" t="t" l="l"/>
              <a:pathLst>
                <a:path h="1229469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29469"/>
                  </a:lnTo>
                  <a:lnTo>
                    <a:pt x="0" y="12294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457" r="0" b="-2976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24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buscamos lograr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55648"/>
            <a:ext cx="754380" cy="68580"/>
            <a:chOff x="0" y="0"/>
            <a:chExt cx="1005840" cy="91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3435" y="2390775"/>
            <a:ext cx="16656558" cy="1664970"/>
            <a:chOff x="0" y="0"/>
            <a:chExt cx="22208744" cy="2219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08744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20874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22060788" y="0"/>
                  </a:lnTo>
                  <a:cubicBezTo>
                    <a:pt x="22142577" y="0"/>
                    <a:pt x="22208744" y="66294"/>
                    <a:pt x="22208744" y="147955"/>
                  </a:cubicBezTo>
                  <a:lnTo>
                    <a:pt x="22208744" y="2072005"/>
                  </a:lnTo>
                  <a:cubicBezTo>
                    <a:pt x="22208744" y="2153793"/>
                    <a:pt x="22142450" y="2219960"/>
                    <a:pt x="22060788" y="2219960"/>
                  </a:cubicBezTo>
                  <a:lnTo>
                    <a:pt x="147955" y="2219960"/>
                  </a:lnTo>
                  <a:cubicBezTo>
                    <a:pt x="66294" y="2219960"/>
                    <a:pt x="0" y="2153666"/>
                    <a:pt x="0" y="2072005"/>
                  </a:cubicBezTo>
                  <a:close/>
                </a:path>
              </a:pathLst>
            </a:custGeom>
            <a:solidFill>
              <a:srgbClr val="1B3A55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633472"/>
            <a:ext cx="8229600" cy="342900"/>
            <a:chOff x="0" y="0"/>
            <a:chExt cx="109728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b="true" sz="1674" spc="159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81125" y="3017520"/>
            <a:ext cx="15540228" cy="891540"/>
            <a:chOff x="0" y="0"/>
            <a:chExt cx="20720304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03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39" r="0" b="-28963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0720304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849"/>
                </a:lnSpc>
              </a:pPr>
              <a:r>
                <a:rPr lang="en-US" sz="23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integrada de gestión interna para la empresa que centralice, automatice y permita dar trazabilidad a los procesos organizacionales seleccionados, mediante su integración con SAP Business One.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389120"/>
            <a:ext cx="8229600" cy="384048"/>
            <a:chOff x="0" y="0"/>
            <a:chExt cx="109728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b="true" sz="1874" spc="178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020056"/>
            <a:ext cx="548640" cy="548640"/>
            <a:chOff x="0" y="0"/>
            <a:chExt cx="731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5020056"/>
            <a:ext cx="548640" cy="548640"/>
            <a:chOff x="0" y="0"/>
            <a:chExt cx="7315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77340" y="4937760"/>
            <a:ext cx="7221474" cy="822960"/>
            <a:chOff x="0" y="0"/>
            <a:chExt cx="9628632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Analizar los procesos actuales y levantar los requerimientos funcionales y no funcionales.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6048756"/>
            <a:ext cx="548640" cy="548640"/>
            <a:chOff x="0" y="0"/>
            <a:chExt cx="7315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6048756"/>
            <a:ext cx="548640" cy="548640"/>
            <a:chOff x="0" y="0"/>
            <a:chExt cx="7315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77340" y="5966460"/>
            <a:ext cx="7221474" cy="822960"/>
            <a:chOff x="0" y="0"/>
            <a:chExt cx="9628632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Definir y priorizar los módulos según las necesidades de la empresa, el tiempo disponible y la capacidad del equipo.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7077456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7077456"/>
            <a:ext cx="548640" cy="548640"/>
            <a:chOff x="0" y="0"/>
            <a:chExt cx="731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77340" y="6995160"/>
            <a:ext cx="7221474" cy="822960"/>
            <a:chOff x="0" y="0"/>
            <a:chExt cx="9628632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la arquitectura, la base de datos, las interfaces y el modelo de roles y permisos.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8106156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8106156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77340" y="8023860"/>
            <a:ext cx="7221474" cy="822960"/>
            <a:chOff x="0" y="0"/>
            <a:chExt cx="9628632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los seis módulos seleccionados y sus flujos de gestión.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16034" y="5020056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416034" y="5020056"/>
            <a:ext cx="548640" cy="548640"/>
            <a:chOff x="0" y="0"/>
            <a:chExt cx="731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170414" y="5020056"/>
            <a:ext cx="7221474" cy="822960"/>
            <a:chOff x="0" y="0"/>
            <a:chExt cx="9628632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y validar la integración controlada con SAP Business One.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16034" y="6048756"/>
            <a:ext cx="548640" cy="548640"/>
            <a:chOff x="0" y="0"/>
            <a:chExt cx="7315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16034" y="6048756"/>
            <a:ext cx="548640" cy="548640"/>
            <a:chOff x="0" y="0"/>
            <a:chExt cx="7315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170414" y="5966460"/>
            <a:ext cx="7221474" cy="822960"/>
            <a:chOff x="0" y="0"/>
            <a:chExt cx="9628632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Ejecutar pruebas funcionales, de seguridad y calidad.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16034" y="7077456"/>
            <a:ext cx="548640" cy="548640"/>
            <a:chOff x="0" y="0"/>
            <a:chExt cx="7315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416034" y="7077456"/>
            <a:ext cx="548640" cy="548640"/>
            <a:chOff x="0" y="0"/>
            <a:chExt cx="73152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170414" y="6995160"/>
            <a:ext cx="7221474" cy="822960"/>
            <a:chOff x="0" y="0"/>
            <a:chExt cx="9628632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6286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28632">
                  <a:moveTo>
                    <a:pt x="0" y="0"/>
                  </a:moveTo>
                  <a:lnTo>
                    <a:pt x="9628632" y="0"/>
                  </a:lnTo>
                  <a:lnTo>
                    <a:pt x="96286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62863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Documentar el desarrollo, funcionamiento y resultados del proyecto.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Competencias que aplicamos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6637508" cy="441833"/>
            <a:chOff x="0" y="0"/>
            <a:chExt cx="22183344" cy="589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589111"/>
            </a:xfrm>
            <a:custGeom>
              <a:avLst/>
              <a:gdLst/>
              <a:ahLst/>
              <a:cxnLst/>
              <a:rect r="r" b="b" t="t" l="l"/>
              <a:pathLst>
                <a:path h="589111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4738" r="0" b="-6927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Competencias del perfil de egreso de Ingeniería en Informática aplicadas al desarrollo del proyecto.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733675"/>
            <a:ext cx="16656558" cy="1088898"/>
            <a:chOff x="0" y="0"/>
            <a:chExt cx="22208744" cy="14518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059900" y="0"/>
                  </a:lnTo>
                  <a:cubicBezTo>
                    <a:pt x="22142196" y="0"/>
                    <a:pt x="22208744" y="66675"/>
                    <a:pt x="22208744" y="148844"/>
                  </a:cubicBezTo>
                  <a:lnTo>
                    <a:pt x="22208744" y="1303020"/>
                  </a:lnTo>
                  <a:cubicBezTo>
                    <a:pt x="22208744" y="1385316"/>
                    <a:pt x="22142069" y="1451864"/>
                    <a:pt x="2205990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56335" y="2953131"/>
            <a:ext cx="869442" cy="649986"/>
            <a:chOff x="0" y="0"/>
            <a:chExt cx="1159256" cy="866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9256" cy="866648"/>
            </a:xfrm>
            <a:custGeom>
              <a:avLst/>
              <a:gdLst/>
              <a:ahLst/>
              <a:cxnLst/>
              <a:rect r="r" b="b" t="t" l="l"/>
              <a:pathLst>
                <a:path h="866648" w="115925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1046226" y="0"/>
                  </a:lnTo>
                  <a:cubicBezTo>
                    <a:pt x="1108710" y="0"/>
                    <a:pt x="1159256" y="50546"/>
                    <a:pt x="1159256" y="113030"/>
                  </a:cubicBezTo>
                  <a:lnTo>
                    <a:pt x="1159256" y="753618"/>
                  </a:lnTo>
                  <a:cubicBezTo>
                    <a:pt x="1159256" y="816102"/>
                    <a:pt x="1108710" y="866648"/>
                    <a:pt x="104622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2962656"/>
            <a:ext cx="850392" cy="630936"/>
            <a:chOff x="0" y="0"/>
            <a:chExt cx="1133856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" cy="841248"/>
            </a:xfrm>
            <a:custGeom>
              <a:avLst/>
              <a:gdLst/>
              <a:ahLst/>
              <a:cxnLst/>
              <a:rect r="r" b="b" t="t" l="l"/>
              <a:pathLst>
                <a:path h="841248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BE1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33856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63140" y="2848166"/>
            <a:ext cx="5623560" cy="1069848"/>
            <a:chOff x="0" y="0"/>
            <a:chExt cx="7498080" cy="14264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980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421" r="0" b="-524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49808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</a:t>
              </a: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luciones de software de calidad, aplicando su ciclo de vida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092440" y="2743200"/>
            <a:ext cx="9166860" cy="1069848"/>
            <a:chOff x="0" y="0"/>
            <a:chExt cx="12222480" cy="14264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224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2222480">
                  <a:moveTo>
                    <a:pt x="0" y="0"/>
                  </a:moveTo>
                  <a:lnTo>
                    <a:pt x="12222480" y="0"/>
                  </a:lnTo>
                  <a:lnTo>
                    <a:pt x="122224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877" r="4239" b="-1098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222480" cy="1464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</a:t>
              </a: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licaremos análisis, diseño, desarrollo, integración, pruebas, documentación y control de versiones.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3435" y="3968115"/>
            <a:ext cx="16656558" cy="1088898"/>
            <a:chOff x="0" y="0"/>
            <a:chExt cx="22208744" cy="14518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059900" y="0"/>
                  </a:lnTo>
                  <a:cubicBezTo>
                    <a:pt x="22142196" y="0"/>
                    <a:pt x="22208744" y="66675"/>
                    <a:pt x="22208744" y="148844"/>
                  </a:cubicBezTo>
                  <a:lnTo>
                    <a:pt x="22208744" y="1303020"/>
                  </a:lnTo>
                  <a:cubicBezTo>
                    <a:pt x="22208744" y="1385316"/>
                    <a:pt x="22142069" y="1451864"/>
                    <a:pt x="2205990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56335" y="4187571"/>
            <a:ext cx="869442" cy="649986"/>
            <a:chOff x="0" y="0"/>
            <a:chExt cx="1159256" cy="866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9256" cy="866648"/>
            </a:xfrm>
            <a:custGeom>
              <a:avLst/>
              <a:gdLst/>
              <a:ahLst/>
              <a:cxnLst/>
              <a:rect r="r" b="b" t="t" l="l"/>
              <a:pathLst>
                <a:path h="866648" w="115925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1046226" y="0"/>
                  </a:lnTo>
                  <a:cubicBezTo>
                    <a:pt x="1108710" y="0"/>
                    <a:pt x="1159256" y="50546"/>
                    <a:pt x="1159256" y="113030"/>
                  </a:cubicBezTo>
                  <a:lnTo>
                    <a:pt x="1159256" y="753618"/>
                  </a:lnTo>
                  <a:cubicBezTo>
                    <a:pt x="1159256" y="816102"/>
                    <a:pt x="1108710" y="866648"/>
                    <a:pt x="104622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197096"/>
            <a:ext cx="850392" cy="630936"/>
            <a:chOff x="0" y="0"/>
            <a:chExt cx="1133856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3856" cy="841248"/>
            </a:xfrm>
            <a:custGeom>
              <a:avLst/>
              <a:gdLst/>
              <a:ahLst/>
              <a:cxnLst/>
              <a:rect r="r" b="b" t="t" l="l"/>
              <a:pathLst>
                <a:path h="841248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BE1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33856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263140" y="3977640"/>
            <a:ext cx="5623560" cy="1069848"/>
            <a:chOff x="0" y="0"/>
            <a:chExt cx="7498080" cy="14264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980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421" r="0" b="-524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49808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</a:t>
              </a: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 de datos relacionales para los requerimientos de información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92440" y="3977640"/>
            <a:ext cx="9056271" cy="1069848"/>
            <a:chOff x="0" y="0"/>
            <a:chExt cx="12075028" cy="14264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0750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2075028">
                  <a:moveTo>
                    <a:pt x="0" y="0"/>
                  </a:moveTo>
                  <a:lnTo>
                    <a:pt x="12075028" y="0"/>
                  </a:lnTo>
                  <a:lnTo>
                    <a:pt x="12075028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877" r="3070" b="-1098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075028" cy="1464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Modelaremos en PostgreSQL los usuarios, permisos, solicitudes, estados, notificaciones e historiales de la plataforma.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5202555"/>
            <a:ext cx="16656558" cy="1088898"/>
            <a:chOff x="0" y="0"/>
            <a:chExt cx="22208744" cy="14518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059900" y="0"/>
                  </a:lnTo>
                  <a:cubicBezTo>
                    <a:pt x="22142196" y="0"/>
                    <a:pt x="22208744" y="66675"/>
                    <a:pt x="22208744" y="148844"/>
                  </a:cubicBezTo>
                  <a:lnTo>
                    <a:pt x="22208744" y="1303020"/>
                  </a:lnTo>
                  <a:cubicBezTo>
                    <a:pt x="22208744" y="1385316"/>
                    <a:pt x="22142069" y="1451864"/>
                    <a:pt x="2205990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56335" y="5422011"/>
            <a:ext cx="869442" cy="649986"/>
            <a:chOff x="0" y="0"/>
            <a:chExt cx="1159256" cy="866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59256" cy="866648"/>
            </a:xfrm>
            <a:custGeom>
              <a:avLst/>
              <a:gdLst/>
              <a:ahLst/>
              <a:cxnLst/>
              <a:rect r="r" b="b" t="t" l="l"/>
              <a:pathLst>
                <a:path h="866648" w="115925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1046226" y="0"/>
                  </a:lnTo>
                  <a:cubicBezTo>
                    <a:pt x="1108710" y="0"/>
                    <a:pt x="1159256" y="50546"/>
                    <a:pt x="1159256" y="113030"/>
                  </a:cubicBezTo>
                  <a:lnTo>
                    <a:pt x="1159256" y="753618"/>
                  </a:lnTo>
                  <a:cubicBezTo>
                    <a:pt x="1159256" y="816102"/>
                    <a:pt x="1108710" y="866648"/>
                    <a:pt x="104622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FFBE1E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65860" y="5431536"/>
            <a:ext cx="850392" cy="630936"/>
            <a:chOff x="0" y="0"/>
            <a:chExt cx="1133856" cy="8412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3856" cy="841248"/>
            </a:xfrm>
            <a:custGeom>
              <a:avLst/>
              <a:gdLst/>
              <a:ahLst/>
              <a:cxnLst/>
              <a:rect r="r" b="b" t="t" l="l"/>
              <a:pathLst>
                <a:path h="841248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5192" t="0" r="-4519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133856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63140" y="5212080"/>
            <a:ext cx="5623560" cy="1069848"/>
            <a:chOff x="0" y="0"/>
            <a:chExt cx="7498080" cy="1426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4980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421" r="0" b="-524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49808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</a:t>
              </a: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eniería y levantamiento de requisitos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34350" y="5310759"/>
            <a:ext cx="9014361" cy="983361"/>
            <a:chOff x="0" y="0"/>
            <a:chExt cx="12019148" cy="13111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019148" cy="1311148"/>
            </a:xfrm>
            <a:custGeom>
              <a:avLst/>
              <a:gdLst/>
              <a:ahLst/>
              <a:cxnLst/>
              <a:rect r="r" b="b" t="t" l="l"/>
              <a:pathLst>
                <a:path h="1311148" w="12019148">
                  <a:moveTo>
                    <a:pt x="0" y="0"/>
                  </a:moveTo>
                  <a:lnTo>
                    <a:pt x="12019148" y="0"/>
                  </a:lnTo>
                  <a:lnTo>
                    <a:pt x="12019148" y="1311148"/>
                  </a:lnTo>
                  <a:lnTo>
                    <a:pt x="0" y="13111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540" r="2619" b="-12833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019148" cy="1349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nalizaremos los procesos de la empresa y documentaremos sus necesidades mediante historias de usuario y criterios de aceptación.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3435" y="6436995"/>
            <a:ext cx="16656558" cy="1088898"/>
            <a:chOff x="0" y="0"/>
            <a:chExt cx="22208744" cy="14518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059900" y="0"/>
                  </a:lnTo>
                  <a:cubicBezTo>
                    <a:pt x="22142196" y="0"/>
                    <a:pt x="22208744" y="66675"/>
                    <a:pt x="22208744" y="148844"/>
                  </a:cubicBezTo>
                  <a:lnTo>
                    <a:pt x="22208744" y="1303020"/>
                  </a:lnTo>
                  <a:cubicBezTo>
                    <a:pt x="22208744" y="1385316"/>
                    <a:pt x="22142069" y="1451864"/>
                    <a:pt x="2205990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56335" y="6656451"/>
            <a:ext cx="869442" cy="649986"/>
            <a:chOff x="0" y="0"/>
            <a:chExt cx="1159256" cy="8666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59256" cy="866648"/>
            </a:xfrm>
            <a:custGeom>
              <a:avLst/>
              <a:gdLst/>
              <a:ahLst/>
              <a:cxnLst/>
              <a:rect r="r" b="b" t="t" l="l"/>
              <a:pathLst>
                <a:path h="866648" w="115925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1046226" y="0"/>
                  </a:lnTo>
                  <a:cubicBezTo>
                    <a:pt x="1108710" y="0"/>
                    <a:pt x="1159256" y="50546"/>
                    <a:pt x="1159256" y="113030"/>
                  </a:cubicBezTo>
                  <a:lnTo>
                    <a:pt x="1159256" y="753618"/>
                  </a:lnTo>
                  <a:cubicBezTo>
                    <a:pt x="1159256" y="816102"/>
                    <a:pt x="1108710" y="866648"/>
                    <a:pt x="104622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6665976"/>
            <a:ext cx="850392" cy="630936"/>
            <a:chOff x="0" y="0"/>
            <a:chExt cx="1133856" cy="8412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33856" cy="841248"/>
            </a:xfrm>
            <a:custGeom>
              <a:avLst/>
              <a:gdLst/>
              <a:ahLst/>
              <a:cxnLst/>
              <a:rect r="r" b="b" t="t" l="l"/>
              <a:pathLst>
                <a:path h="841248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BE1E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133856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263140" y="6446520"/>
            <a:ext cx="5623560" cy="1069848"/>
            <a:chOff x="0" y="0"/>
            <a:chExt cx="7498080" cy="14264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980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421" r="0" b="-5242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749808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Evaluació</a:t>
              </a: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 y gestión de proyectos informáticos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092440" y="6551295"/>
            <a:ext cx="9056271" cy="850392"/>
            <a:chOff x="0" y="0"/>
            <a:chExt cx="12075028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075028" cy="1133856"/>
            </a:xfrm>
            <a:custGeom>
              <a:avLst/>
              <a:gdLst/>
              <a:ahLst/>
              <a:cxnLst/>
              <a:rect r="r" b="b" t="t" l="l"/>
              <a:pathLst>
                <a:path h="1133856" w="12075028">
                  <a:moveTo>
                    <a:pt x="0" y="0"/>
                  </a:moveTo>
                  <a:lnTo>
                    <a:pt x="12075028" y="0"/>
                  </a:lnTo>
                  <a:lnTo>
                    <a:pt x="1207502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232" r="3070" b="-16403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075028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</a:t>
              </a: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estionaremos el proyecto con Scrum, Product Backlog, sprints, Carta Gantt, seguimiento y control de riesgos.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3435" y="7671435"/>
            <a:ext cx="16656558" cy="1088898"/>
            <a:chOff x="0" y="0"/>
            <a:chExt cx="22208744" cy="14518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059900" y="0"/>
                  </a:lnTo>
                  <a:cubicBezTo>
                    <a:pt x="22142196" y="0"/>
                    <a:pt x="22208744" y="66675"/>
                    <a:pt x="22208744" y="148844"/>
                  </a:cubicBezTo>
                  <a:lnTo>
                    <a:pt x="22208744" y="1303020"/>
                  </a:lnTo>
                  <a:cubicBezTo>
                    <a:pt x="22208744" y="1385316"/>
                    <a:pt x="22142069" y="1451864"/>
                    <a:pt x="2205990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56335" y="7890891"/>
            <a:ext cx="869442" cy="649986"/>
            <a:chOff x="0" y="0"/>
            <a:chExt cx="1159256" cy="8666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9256" cy="866648"/>
            </a:xfrm>
            <a:custGeom>
              <a:avLst/>
              <a:gdLst/>
              <a:ahLst/>
              <a:cxnLst/>
              <a:rect r="r" b="b" t="t" l="l"/>
              <a:pathLst>
                <a:path h="866648" w="115925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1046226" y="0"/>
                  </a:lnTo>
                  <a:cubicBezTo>
                    <a:pt x="1108710" y="0"/>
                    <a:pt x="1159256" y="50546"/>
                    <a:pt x="1159256" y="113030"/>
                  </a:cubicBezTo>
                  <a:lnTo>
                    <a:pt x="1159256" y="753618"/>
                  </a:lnTo>
                  <a:cubicBezTo>
                    <a:pt x="1159256" y="816102"/>
                    <a:pt x="1108710" y="866648"/>
                    <a:pt x="104622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165860" y="7900416"/>
            <a:ext cx="850392" cy="630936"/>
            <a:chOff x="0" y="0"/>
            <a:chExt cx="1133856" cy="8412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33856" cy="841248"/>
            </a:xfrm>
            <a:custGeom>
              <a:avLst/>
              <a:gdLst/>
              <a:ahLst/>
              <a:cxnLst/>
              <a:rect r="r" b="b" t="t" l="l"/>
              <a:pathLst>
                <a:path h="841248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FBE1E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133856" cy="888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263140" y="7680960"/>
            <a:ext cx="5623560" cy="1069848"/>
            <a:chOff x="0" y="0"/>
            <a:chExt cx="7498080" cy="14264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4980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421" r="0" b="-5242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49808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Calidad, seguridad y sostenibilidad del software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092440" y="7680960"/>
            <a:ext cx="9056271" cy="1069848"/>
            <a:chOff x="0" y="0"/>
            <a:chExt cx="12075028" cy="14264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0750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2075028">
                  <a:moveTo>
                    <a:pt x="0" y="0"/>
                  </a:moveTo>
                  <a:lnTo>
                    <a:pt x="12075028" y="0"/>
                  </a:lnTo>
                  <a:lnTo>
                    <a:pt x="12075028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877" r="3070" b="-10987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2075028" cy="1464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</a:t>
              </a:r>
              <a:r>
                <a:rPr lang="en-US" sz="2149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remos control de acceso por roles, validación de datos, pruebas de seguridad, trazabilidad e integración controlada con SAP.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31910"/>
            <a:ext cx="5486400" cy="2057400"/>
            <a:chOff x="0" y="0"/>
            <a:chExt cx="731520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731520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864007"/>
            <a:ext cx="13030200" cy="1097280"/>
            <a:chOff x="0" y="0"/>
            <a:chExt cx="17373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7373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Scrum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4435160"/>
            <a:ext cx="9078185" cy="863733"/>
            <a:chOff x="0" y="0"/>
            <a:chExt cx="12104246" cy="1151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04246" cy="1151644"/>
            </a:xfrm>
            <a:custGeom>
              <a:avLst/>
              <a:gdLst/>
              <a:ahLst/>
              <a:cxnLst/>
              <a:rect r="r" b="b" t="t" l="l"/>
              <a:pathLst>
                <a:path h="1151644" w="12104246">
                  <a:moveTo>
                    <a:pt x="0" y="0"/>
                  </a:moveTo>
                  <a:lnTo>
                    <a:pt x="12104246" y="0"/>
                  </a:lnTo>
                  <a:lnTo>
                    <a:pt x="12104246" y="1151644"/>
                  </a:lnTo>
                  <a:lnTo>
                    <a:pt x="0" y="11516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249" r="-43533" b="-2336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104246" cy="119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Scru</a:t>
              </a:r>
              <a:r>
                <a:rPr lang="en-US" sz="2449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 adaptado al semestre, con sprints de dos semanas y avance verificable.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27988" y="1852888"/>
            <a:ext cx="5850343" cy="585034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1592" t="0" r="-41592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etodología de trabajo: Scrum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63624"/>
            <a:ext cx="17232786" cy="732179"/>
            <a:chOff x="0" y="0"/>
            <a:chExt cx="22977049" cy="9762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77049" cy="976238"/>
            </a:xfrm>
            <a:custGeom>
              <a:avLst/>
              <a:gdLst/>
              <a:ahLst/>
              <a:cxnLst/>
              <a:rect r="r" b="b" t="t" l="l"/>
              <a:pathLst>
                <a:path h="976238" w="22977049">
                  <a:moveTo>
                    <a:pt x="0" y="0"/>
                  </a:moveTo>
                  <a:lnTo>
                    <a:pt x="22977049" y="0"/>
                  </a:lnTo>
                  <a:lnTo>
                    <a:pt x="22977049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7171" r="3454" b="-3783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977049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Utilizaremos Scrum adaptado al contexto académico, con un Product Backlog compuesto por historias de usuario, criterios de aceptación, tareas </a:t>
              </a: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técnicas, errores y mejoras. El desarrollo se organizará en sprints de aproximadamente dos semanas.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3435" y="2733675"/>
            <a:ext cx="2184216" cy="2076450"/>
            <a:chOff x="0" y="0"/>
            <a:chExt cx="2912288" cy="2768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017520"/>
            <a:ext cx="2165166" cy="548640"/>
            <a:chOff x="0" y="0"/>
            <a:chExt cx="2886888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675888"/>
            <a:ext cx="1890846" cy="960120"/>
            <a:chOff x="0" y="0"/>
            <a:chExt cx="2521128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Levantamiento y análisis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225489" y="2733675"/>
            <a:ext cx="2184216" cy="2076450"/>
            <a:chOff x="0" y="0"/>
            <a:chExt cx="2912288" cy="276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235014" y="3017520"/>
            <a:ext cx="2165166" cy="548640"/>
            <a:chOff x="0" y="0"/>
            <a:chExt cx="2886888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72174" y="3675888"/>
            <a:ext cx="1890846" cy="960120"/>
            <a:chOff x="0" y="0"/>
            <a:chExt cx="2521128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Definición del alcance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37552" y="2733675"/>
            <a:ext cx="2184216" cy="2076450"/>
            <a:chOff x="0" y="0"/>
            <a:chExt cx="2912288" cy="2768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647077" y="3017520"/>
            <a:ext cx="2165166" cy="548640"/>
            <a:chOff x="0" y="0"/>
            <a:chExt cx="2886888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84237" y="3675888"/>
            <a:ext cx="1890846" cy="960120"/>
            <a:chOff x="0" y="0"/>
            <a:chExt cx="2521128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de la solución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49606" y="2733675"/>
            <a:ext cx="2184216" cy="2076450"/>
            <a:chOff x="0" y="0"/>
            <a:chExt cx="2912288" cy="2768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059131" y="3017520"/>
            <a:ext cx="2165166" cy="548640"/>
            <a:chOff x="0" y="0"/>
            <a:chExt cx="2886888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96291" y="3675888"/>
            <a:ext cx="1890846" cy="960120"/>
            <a:chOff x="0" y="0"/>
            <a:chExt cx="2521128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incremental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61660" y="2733675"/>
            <a:ext cx="2184216" cy="2076450"/>
            <a:chOff x="0" y="0"/>
            <a:chExt cx="2912288" cy="2768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471185" y="3017520"/>
            <a:ext cx="2165166" cy="548640"/>
            <a:chOff x="0" y="0"/>
            <a:chExt cx="2886888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608345" y="3675888"/>
            <a:ext cx="1890846" cy="960120"/>
            <a:chOff x="0" y="0"/>
            <a:chExt cx="2521128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y pruebas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873714" y="2733675"/>
            <a:ext cx="2184216" cy="2076450"/>
            <a:chOff x="0" y="0"/>
            <a:chExt cx="2912288" cy="2768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883239" y="3017520"/>
            <a:ext cx="2165166" cy="548640"/>
            <a:chOff x="0" y="0"/>
            <a:chExt cx="2886888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020399" y="3675888"/>
            <a:ext cx="1890846" cy="960120"/>
            <a:chOff x="0" y="0"/>
            <a:chExt cx="2521128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Validación y mejora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285777" y="2733675"/>
            <a:ext cx="2184216" cy="2076450"/>
            <a:chOff x="0" y="0"/>
            <a:chExt cx="2912288" cy="2768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123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123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764663" y="0"/>
                  </a:lnTo>
                  <a:cubicBezTo>
                    <a:pt x="2846197" y="0"/>
                    <a:pt x="2912364" y="66167"/>
                    <a:pt x="2912364" y="147701"/>
                  </a:cubicBezTo>
                  <a:lnTo>
                    <a:pt x="2912364" y="2620899"/>
                  </a:lnTo>
                  <a:cubicBezTo>
                    <a:pt x="2912364" y="2702433"/>
                    <a:pt x="2846197" y="2768600"/>
                    <a:pt x="27646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5295302" y="3017520"/>
            <a:ext cx="2165166" cy="548640"/>
            <a:chOff x="0" y="0"/>
            <a:chExt cx="2886888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86892" cy="731520"/>
            </a:xfrm>
            <a:custGeom>
              <a:avLst/>
              <a:gdLst/>
              <a:ahLst/>
              <a:cxnLst/>
              <a:rect r="r" b="b" t="t" l="l"/>
              <a:pathLst>
                <a:path h="731520" w="2886892">
                  <a:moveTo>
                    <a:pt x="0" y="0"/>
                  </a:moveTo>
                  <a:lnTo>
                    <a:pt x="2886892" y="0"/>
                  </a:lnTo>
                  <a:lnTo>
                    <a:pt x="28868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96" r="0" b="-2689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288688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432462" y="3675888"/>
            <a:ext cx="1890846" cy="960120"/>
            <a:chOff x="0" y="0"/>
            <a:chExt cx="2521128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21132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21132">
                  <a:moveTo>
                    <a:pt x="0" y="0"/>
                  </a:moveTo>
                  <a:lnTo>
                    <a:pt x="2521132" y="0"/>
                  </a:lnTo>
                  <a:lnTo>
                    <a:pt x="252113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49" t="0" r="-1514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521128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Documentación y cierre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3435" y="5271135"/>
            <a:ext cx="8063484" cy="3242310"/>
            <a:chOff x="0" y="0"/>
            <a:chExt cx="10751312" cy="4323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51312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751312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04119" y="0"/>
                  </a:lnTo>
                  <a:cubicBezTo>
                    <a:pt x="10685399" y="0"/>
                    <a:pt x="10751312" y="65913"/>
                    <a:pt x="10751312" y="147193"/>
                  </a:cubicBezTo>
                  <a:lnTo>
                    <a:pt x="10751312" y="4175887"/>
                  </a:lnTo>
                  <a:cubicBezTo>
                    <a:pt x="10751312" y="4257167"/>
                    <a:pt x="10685399" y="4323080"/>
                    <a:pt x="10604119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03020" y="5623560"/>
            <a:ext cx="7084314" cy="521208"/>
            <a:chOff x="0" y="0"/>
            <a:chExt cx="9445752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445752" cy="694944"/>
            </a:xfrm>
            <a:custGeom>
              <a:avLst/>
              <a:gdLst/>
              <a:ahLst/>
              <a:cxnLst/>
              <a:rect r="r" b="b" t="t" l="l"/>
              <a:pathLst>
                <a:path h="694944" w="9445752">
                  <a:moveTo>
                    <a:pt x="0" y="0"/>
                  </a:moveTo>
                  <a:lnTo>
                    <a:pt x="9445752" y="0"/>
                  </a:lnTo>
                  <a:lnTo>
                    <a:pt x="944575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842" r="0" b="-21484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445752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Eventos de seguimiento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03020" y="6309360"/>
            <a:ext cx="7084314" cy="2057400"/>
            <a:chOff x="0" y="0"/>
            <a:chExt cx="9445752" cy="2743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445752" cy="2743200"/>
            </a:xfrm>
            <a:custGeom>
              <a:avLst/>
              <a:gdLst/>
              <a:ahLst/>
              <a:cxnLst/>
              <a:rect r="r" b="b" t="t" l="l"/>
              <a:pathLst>
                <a:path h="2743200" w="9445752">
                  <a:moveTo>
                    <a:pt x="0" y="0"/>
                  </a:moveTo>
                  <a:lnTo>
                    <a:pt x="9445752" y="0"/>
                  </a:lnTo>
                  <a:lnTo>
                    <a:pt x="9445752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93" r="0" b="-1709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445752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 al inicio de cada sprint.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Reuniones breves de seguimiento dos veces por semana.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Revisión del incremento al finalizar el sprint.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Retrospectiva para identificar mejoras.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Actualización continua del Product Backlog.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406509" y="5271135"/>
            <a:ext cx="8063484" cy="3242310"/>
            <a:chOff x="0" y="0"/>
            <a:chExt cx="10751312" cy="4323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51312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751312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04119" y="0"/>
                  </a:lnTo>
                  <a:cubicBezTo>
                    <a:pt x="10685399" y="0"/>
                    <a:pt x="10751312" y="65913"/>
                    <a:pt x="10751312" y="147193"/>
                  </a:cubicBezTo>
                  <a:lnTo>
                    <a:pt x="10751312" y="4175887"/>
                  </a:lnTo>
                  <a:cubicBezTo>
                    <a:pt x="10751312" y="4257167"/>
                    <a:pt x="10685399" y="4323080"/>
                    <a:pt x="10604119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896094" y="5623560"/>
            <a:ext cx="7084314" cy="521208"/>
            <a:chOff x="0" y="0"/>
            <a:chExt cx="9445752" cy="6949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445752" cy="694944"/>
            </a:xfrm>
            <a:custGeom>
              <a:avLst/>
              <a:gdLst/>
              <a:ahLst/>
              <a:cxnLst/>
              <a:rect r="r" b="b" t="t" l="l"/>
              <a:pathLst>
                <a:path h="694944" w="9445752">
                  <a:moveTo>
                    <a:pt x="0" y="0"/>
                  </a:moveTo>
                  <a:lnTo>
                    <a:pt x="9445752" y="0"/>
                  </a:lnTo>
                  <a:lnTo>
                    <a:pt x="9445752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842" r="0" b="-21484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445752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Definición de terminado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896094" y="6309360"/>
            <a:ext cx="7084314" cy="2057400"/>
            <a:chOff x="0" y="0"/>
            <a:chExt cx="9445752" cy="2743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445752" cy="2743200"/>
            </a:xfrm>
            <a:custGeom>
              <a:avLst/>
              <a:gdLst/>
              <a:ahLst/>
              <a:cxnLst/>
              <a:rect r="r" b="b" t="t" l="l"/>
              <a:pathLst>
                <a:path h="2743200" w="9445752">
                  <a:moveTo>
                    <a:pt x="0" y="0"/>
                  </a:moveTo>
                  <a:lnTo>
                    <a:pt x="9445752" y="0"/>
                  </a:lnTo>
                  <a:lnTo>
                    <a:pt x="9445752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93" r="0" b="-1709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9445752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Cumpla s</a:t>
              </a: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 criterios de aceptación.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encuentre integrada y probada.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presente errores críticos conocidos.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 código esté versionado en el repositorio.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 documentación y evidencias estén actualizadas.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32485" y="289941"/>
            <a:ext cx="16637508" cy="521208"/>
            <a:chOff x="0" y="0"/>
            <a:chExt cx="22183344" cy="6949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2183344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CÓMO</a:t>
              </a:r>
              <a:r>
                <a:rPr lang="en-US" sz="15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TRABAJAREMOS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trabajo y responsabilidades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55648"/>
            <a:ext cx="754380" cy="68580"/>
            <a:chOff x="0" y="0"/>
            <a:chExt cx="1005840" cy="91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2537460"/>
            <a:ext cx="5463540" cy="960120"/>
            <a:chOff x="0" y="0"/>
            <a:chExt cx="728472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8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284720">
                  <a:moveTo>
                    <a:pt x="0" y="0"/>
                  </a:moveTo>
                  <a:lnTo>
                    <a:pt x="7284720" y="0"/>
                  </a:lnTo>
                  <a:lnTo>
                    <a:pt x="728472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0021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2537460"/>
            <a:ext cx="4997196" cy="960120"/>
            <a:chOff x="0" y="0"/>
            <a:chExt cx="6662928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62928" cy="1280160"/>
            </a:xfrm>
            <a:custGeom>
              <a:avLst/>
              <a:gdLst/>
              <a:ahLst/>
              <a:cxnLst/>
              <a:rect r="r" b="b" t="t" l="l"/>
              <a:pathLst>
                <a:path h="128016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414" r="0" b="-514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662928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 — Definición y planificación | Semanas 1 a 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921" y="3600239"/>
            <a:ext cx="5235321" cy="2173816"/>
            <a:chOff x="0" y="0"/>
            <a:chExt cx="7898011" cy="32794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98012" cy="3279422"/>
            </a:xfrm>
            <a:custGeom>
              <a:avLst/>
              <a:gdLst/>
              <a:ahLst/>
              <a:cxnLst/>
              <a:rect r="r" b="b" t="t" l="l"/>
              <a:pathLst>
                <a:path h="3279422" w="7898012">
                  <a:moveTo>
                    <a:pt x="0" y="0"/>
                  </a:moveTo>
                  <a:lnTo>
                    <a:pt x="7898012" y="0"/>
                  </a:lnTo>
                  <a:lnTo>
                    <a:pt x="7898012" y="3279422"/>
                  </a:lnTo>
                  <a:lnTo>
                    <a:pt x="0" y="32794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20" r="11006" b="442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898011" cy="3317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Análisis de la problemática y levantamiento de requerimientos.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Definición del alcance, historias de usuario y Product Backlog.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Evaluación del diseño técnico, base de datos, interfaces y flujos.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 inicial de los sprints.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68796" y="2537460"/>
            <a:ext cx="6387846" cy="960120"/>
            <a:chOff x="0" y="0"/>
            <a:chExt cx="8517128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17128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17128">
                  <a:moveTo>
                    <a:pt x="0" y="0"/>
                  </a:moveTo>
                  <a:lnTo>
                    <a:pt x="8517128" y="0"/>
                  </a:lnTo>
                  <a:lnTo>
                    <a:pt x="8517128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B3A5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43116" y="2537460"/>
            <a:ext cx="5921502" cy="960120"/>
            <a:chOff x="0" y="0"/>
            <a:chExt cx="7895336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953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7895336">
                  <a:moveTo>
                    <a:pt x="0" y="0"/>
                  </a:moveTo>
                  <a:lnTo>
                    <a:pt x="7895336" y="0"/>
                  </a:lnTo>
                  <a:lnTo>
                    <a:pt x="78953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73" r="0" b="-701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895336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2 — Desarrollo y validación | Semanas 5 a 15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68796" y="3634740"/>
            <a:ext cx="6195822" cy="1573741"/>
            <a:chOff x="0" y="0"/>
            <a:chExt cx="8261096" cy="20983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61096" cy="2098321"/>
            </a:xfrm>
            <a:custGeom>
              <a:avLst/>
              <a:gdLst/>
              <a:ahLst/>
              <a:cxnLst/>
              <a:rect r="r" b="b" t="t" l="l"/>
              <a:pathLst>
                <a:path h="2098321" w="8261096">
                  <a:moveTo>
                    <a:pt x="0" y="0"/>
                  </a:moveTo>
                  <a:lnTo>
                    <a:pt x="8261096" y="0"/>
                  </a:lnTo>
                  <a:lnTo>
                    <a:pt x="8261096" y="2098321"/>
                  </a:lnTo>
                  <a:lnTo>
                    <a:pt x="0" y="20983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23" r="0" b="14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261096" cy="214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Preparación del entorno y desarrollo incremental.</a:t>
              </a:r>
            </a:p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Implementación de los seis módulos seleccionados.</a:t>
              </a:r>
            </a:p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 con SAP Business One o servicio simulado.</a:t>
              </a:r>
            </a:p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Pruebas, integración final y corrección de incidencias.</a:t>
              </a:r>
            </a:p>
            <a:p>
              <a:pPr algn="just">
                <a:lnSpc>
                  <a:spcPts val="236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38938" y="2537460"/>
            <a:ext cx="4539234" cy="960120"/>
            <a:chOff x="0" y="0"/>
            <a:chExt cx="6052312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52312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52312">
                  <a:moveTo>
                    <a:pt x="0" y="0"/>
                  </a:moveTo>
                  <a:lnTo>
                    <a:pt x="6052312" y="0"/>
                  </a:lnTo>
                  <a:lnTo>
                    <a:pt x="6052312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BE1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113258" y="2537460"/>
            <a:ext cx="4072890" cy="960120"/>
            <a:chOff x="0" y="0"/>
            <a:chExt cx="543052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305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30520">
                  <a:moveTo>
                    <a:pt x="0" y="0"/>
                  </a:moveTo>
                  <a:lnTo>
                    <a:pt x="5430520" y="0"/>
                  </a:lnTo>
                  <a:lnTo>
                    <a:pt x="5430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56" r="0" b="-326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43052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3 — Evidencias y presentación | Semanas 16 a 18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38938" y="3634740"/>
            <a:ext cx="4347210" cy="1573741"/>
            <a:chOff x="0" y="0"/>
            <a:chExt cx="5796280" cy="20983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96280" cy="2098321"/>
            </a:xfrm>
            <a:custGeom>
              <a:avLst/>
              <a:gdLst/>
              <a:ahLst/>
              <a:cxnLst/>
              <a:rect r="r" b="b" t="t" l="l"/>
              <a:pathLst>
                <a:path h="2098321" w="5796280">
                  <a:moveTo>
                    <a:pt x="0" y="0"/>
                  </a:moveTo>
                  <a:lnTo>
                    <a:pt x="5796280" y="0"/>
                  </a:lnTo>
                  <a:lnTo>
                    <a:pt x="5796280" y="2098321"/>
                  </a:lnTo>
                  <a:lnTo>
                    <a:pt x="0" y="20983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35" r="0" b="2438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796280" cy="214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Preparación de evidencias sanitizadas.</a:t>
              </a:r>
            </a:p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Validación del incremento final.</a:t>
              </a:r>
            </a:p>
            <a:p>
              <a:pPr algn="just" marL="426402" indent="-213201" lvl="1">
                <a:lnSpc>
                  <a:spcPts val="2369"/>
                </a:lnSpc>
                <a:buFont typeface="Arial"/>
                <a:buChar char="•"/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Demostración controlada y presentación del proyecto.</a:t>
              </a:r>
            </a:p>
            <a:p>
              <a:pPr algn="just">
                <a:lnSpc>
                  <a:spcPts val="236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1921" y="5682615"/>
            <a:ext cx="10972800" cy="411480"/>
            <a:chOff x="0" y="0"/>
            <a:chExt cx="14630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REPARTO DE RESPONSABILIDADES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2396" y="6221730"/>
            <a:ext cx="5244846" cy="2762250"/>
            <a:chOff x="0" y="0"/>
            <a:chExt cx="6993128" cy="3683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93127" cy="3683000"/>
            </a:xfrm>
            <a:custGeom>
              <a:avLst/>
              <a:gdLst/>
              <a:ahLst/>
              <a:cxnLst/>
              <a:rect r="r" b="b" t="t" l="l"/>
              <a:pathLst>
                <a:path h="368300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535680"/>
                  </a:lnTo>
                  <a:cubicBezTo>
                    <a:pt x="6993127" y="3617087"/>
                    <a:pt x="6927214" y="3683000"/>
                    <a:pt x="6845808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03401" y="6642735"/>
            <a:ext cx="411480" cy="68580"/>
            <a:chOff x="0" y="0"/>
            <a:chExt cx="548640" cy="91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" cy="91440"/>
            </a:xfrm>
            <a:custGeom>
              <a:avLst/>
              <a:gdLst/>
              <a:ahLst/>
              <a:cxnLst/>
              <a:rect r="r" b="b" t="t" l="l"/>
              <a:pathLst>
                <a:path h="914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03401" y="6875907"/>
            <a:ext cx="4402836" cy="480268"/>
            <a:chOff x="0" y="0"/>
            <a:chExt cx="5870448" cy="64035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7044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49" r="0" b="-1286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87044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 1 (Matias Orellana)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9111" y="7808595"/>
            <a:ext cx="4402836" cy="891540"/>
            <a:chOff x="0" y="0"/>
            <a:chExt cx="5870448" cy="1188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70448" cy="1188720"/>
            </a:xfrm>
            <a:custGeom>
              <a:avLst/>
              <a:gdLst/>
              <a:ahLst/>
              <a:cxnLst/>
              <a:rect r="r" b="b" t="t" l="l"/>
              <a:pathLst>
                <a:path h="118872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226" r="0" b="-462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87044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</a:t>
              </a: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nación de Scrum y cronograma, apoyo en requerimientos, backend, integración, repositorio y documentación técnica.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88252" y="6221730"/>
            <a:ext cx="5244846" cy="2762250"/>
            <a:chOff x="0" y="0"/>
            <a:chExt cx="6993128" cy="3683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93127" cy="3683000"/>
            </a:xfrm>
            <a:custGeom>
              <a:avLst/>
              <a:gdLst/>
              <a:ahLst/>
              <a:cxnLst/>
              <a:rect r="r" b="b" t="t" l="l"/>
              <a:pathLst>
                <a:path h="368300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535680"/>
                  </a:lnTo>
                  <a:cubicBezTo>
                    <a:pt x="6993127" y="3617087"/>
                    <a:pt x="6927214" y="3683000"/>
                    <a:pt x="6845808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009257" y="6642735"/>
            <a:ext cx="411480" cy="68580"/>
            <a:chOff x="0" y="0"/>
            <a:chExt cx="548640" cy="91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" cy="91440"/>
            </a:xfrm>
            <a:custGeom>
              <a:avLst/>
              <a:gdLst/>
              <a:ahLst/>
              <a:cxnLst/>
              <a:rect r="r" b="b" t="t" l="l"/>
              <a:pathLst>
                <a:path h="914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009257" y="6875907"/>
            <a:ext cx="4402836" cy="480268"/>
            <a:chOff x="0" y="0"/>
            <a:chExt cx="5870448" cy="6403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7044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49" r="0" b="-1286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87044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 2 (Millaray Esposito)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040880" y="7808595"/>
            <a:ext cx="4823841" cy="891540"/>
            <a:chOff x="0" y="0"/>
            <a:chExt cx="6431788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317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31788">
                  <a:moveTo>
                    <a:pt x="0" y="0"/>
                  </a:moveTo>
                  <a:lnTo>
                    <a:pt x="6431788" y="0"/>
                  </a:lnTo>
                  <a:lnTo>
                    <a:pt x="64317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226" r="8727" b="-462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43178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nálisis funcional, modelamiento de procesos, interfaces, experiencia de usuario, documentación funcional y pruebas de aceptación.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94108" y="6221730"/>
            <a:ext cx="5244846" cy="2762250"/>
            <a:chOff x="0" y="0"/>
            <a:chExt cx="6993128" cy="3683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93127" cy="3683000"/>
            </a:xfrm>
            <a:custGeom>
              <a:avLst/>
              <a:gdLst/>
              <a:ahLst/>
              <a:cxnLst/>
              <a:rect r="r" b="b" t="t" l="l"/>
              <a:pathLst>
                <a:path h="3683000" w="6993127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845808" y="0"/>
                  </a:lnTo>
                  <a:cubicBezTo>
                    <a:pt x="6927214" y="0"/>
                    <a:pt x="6993127" y="65913"/>
                    <a:pt x="6993127" y="147320"/>
                  </a:cubicBezTo>
                  <a:lnTo>
                    <a:pt x="6993127" y="3535680"/>
                  </a:lnTo>
                  <a:cubicBezTo>
                    <a:pt x="6993127" y="3617087"/>
                    <a:pt x="6927214" y="3683000"/>
                    <a:pt x="6845808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715113" y="6642735"/>
            <a:ext cx="411480" cy="68580"/>
            <a:chOff x="0" y="0"/>
            <a:chExt cx="548640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" cy="91440"/>
            </a:xfrm>
            <a:custGeom>
              <a:avLst/>
              <a:gdLst/>
              <a:ahLst/>
              <a:cxnLst/>
              <a:rect r="r" b="b" t="t" l="l"/>
              <a:pathLst>
                <a:path h="914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715113" y="6875907"/>
            <a:ext cx="4402836" cy="480268"/>
            <a:chOff x="0" y="0"/>
            <a:chExt cx="5870448" cy="64035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7044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49" r="0" b="-12860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87044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 3 (Alexssander López)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69111" y="7356175"/>
            <a:ext cx="4402836" cy="411480"/>
            <a:chOff x="0" y="0"/>
            <a:chExt cx="5870448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70448" cy="548640"/>
            </a:xfrm>
            <a:custGeom>
              <a:avLst/>
              <a:gdLst/>
              <a:ahLst/>
              <a:cxnLst/>
              <a:rect r="r" b="b" t="t" l="l"/>
              <a:pathLst>
                <a:path h="54864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87044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  <a:r>
                <a:rPr lang="en-US" sz="1875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crum Master y desarrollo backend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747498" y="7736205"/>
            <a:ext cx="4402836" cy="891540"/>
            <a:chOff x="0" y="0"/>
            <a:chExt cx="5870448" cy="1188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70448" cy="1188720"/>
            </a:xfrm>
            <a:custGeom>
              <a:avLst/>
              <a:gdLst/>
              <a:ahLst/>
              <a:cxnLst/>
              <a:rect r="r" b="b" t="t" l="l"/>
              <a:pathLst>
                <a:path h="118872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226" r="0" b="-462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87044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ase de datos, desarrollo de componentes, integraciones, validaciones, pruebas técnicas y preparación de la demostración.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82396" y="448818"/>
            <a:ext cx="10972800" cy="411480"/>
            <a:chOff x="0" y="0"/>
            <a:chExt cx="146304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TRABAJO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011543" y="7356175"/>
            <a:ext cx="4402836" cy="411480"/>
            <a:chOff x="0" y="0"/>
            <a:chExt cx="5870448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70448" cy="548640"/>
            </a:xfrm>
            <a:custGeom>
              <a:avLst/>
              <a:gdLst/>
              <a:ahLst/>
              <a:cxnLst/>
              <a:rect r="r" b="b" t="t" l="l"/>
              <a:pathLst>
                <a:path h="54864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87044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Análisis fun</a:t>
              </a:r>
              <a:r>
                <a:rPr lang="en-US" sz="1875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cional y frontend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747498" y="7324725"/>
            <a:ext cx="4402836" cy="411480"/>
            <a:chOff x="0" y="0"/>
            <a:chExt cx="5870448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70448" cy="548640"/>
            </a:xfrm>
            <a:custGeom>
              <a:avLst/>
              <a:gdLst/>
              <a:ahLst/>
              <a:cxnLst/>
              <a:rect r="r" b="b" t="t" l="l"/>
              <a:pathLst>
                <a:path h="548640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87044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</a:t>
              </a:r>
              <a:r>
                <a:rPr lang="en-US" sz="1875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ckend y base de datos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028700" y="9220200"/>
            <a:ext cx="1107995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Trabajo compartido</a:t>
            </a:r>
          </a:p>
          <a:p>
            <a:pPr algn="l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Planificación de sprints, revisión del avance, pruebas, actualización de evidencias y presentación de resultados.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7776" y="998343"/>
            <a:ext cx="5486400" cy="2057400"/>
            <a:chOff x="0" y="0"/>
            <a:chExt cx="731520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731520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7776" y="3055743"/>
            <a:ext cx="8926301" cy="1097280"/>
            <a:chOff x="0" y="0"/>
            <a:chExt cx="11901735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01735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901735">
                  <a:moveTo>
                    <a:pt x="0" y="0"/>
                  </a:moveTo>
                  <a:lnTo>
                    <a:pt x="11901735" y="0"/>
                  </a:lnTo>
                  <a:lnTo>
                    <a:pt x="11901735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-45975" b="-18138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901735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Factibilidad, riesgos y medidas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776" y="4632843"/>
            <a:ext cx="13030200" cy="685800"/>
            <a:chOff x="0" y="0"/>
            <a:chExt cx="173736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37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</a:t>
              </a:r>
              <a:r>
                <a:rPr lang="en-US" sz="2250">
                  <a:solidFill>
                    <a:srgbClr val="9FB3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riesgo principal no es técnico, es de dimensionamiento.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76215" y="2921190"/>
            <a:ext cx="7084253" cy="4109106"/>
            <a:chOff x="0" y="0"/>
            <a:chExt cx="930258" cy="5395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0259" cy="539581"/>
            </a:xfrm>
            <a:custGeom>
              <a:avLst/>
              <a:gdLst/>
              <a:ahLst/>
              <a:cxnLst/>
              <a:rect r="r" b="b" t="t" l="l"/>
              <a:pathLst>
                <a:path h="539581" w="930259">
                  <a:moveTo>
                    <a:pt x="0" y="0"/>
                  </a:moveTo>
                  <a:lnTo>
                    <a:pt x="930259" y="0"/>
                  </a:lnTo>
                  <a:lnTo>
                    <a:pt x="930259" y="539581"/>
                  </a:lnTo>
                  <a:lnTo>
                    <a:pt x="0" y="539581"/>
                  </a:lnTo>
                  <a:close/>
                </a:path>
              </a:pathLst>
            </a:custGeom>
            <a:blipFill>
              <a:blip r:embed="rId5"/>
              <a:stretch>
                <a:fillRect l="-1558" t="0" r="-1558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1577340"/>
            <a:ext cx="960120" cy="96012"/>
            <a:chOff x="0" y="0"/>
            <a:chExt cx="1280160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1988820"/>
            <a:ext cx="12344400" cy="1028700"/>
            <a:chOff x="0" y="0"/>
            <a:chExt cx="16459200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6459200" cy="1485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qué este proyecto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3435" y="3693795"/>
            <a:ext cx="5199126" cy="2419350"/>
            <a:chOff x="0" y="0"/>
            <a:chExt cx="6932168" cy="3225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32168" cy="3225800"/>
            </a:xfrm>
            <a:custGeom>
              <a:avLst/>
              <a:gdLst/>
              <a:ahLst/>
              <a:cxnLst/>
              <a:rect r="r" b="b" t="t" l="l"/>
              <a:pathLst>
                <a:path h="3225800" w="6932168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84721" y="0"/>
                  </a:lnTo>
                  <a:cubicBezTo>
                    <a:pt x="6866127" y="0"/>
                    <a:pt x="6932168" y="66040"/>
                    <a:pt x="6932168" y="147447"/>
                  </a:cubicBezTo>
                  <a:lnTo>
                    <a:pt x="6932168" y="3078353"/>
                  </a:lnTo>
                  <a:cubicBezTo>
                    <a:pt x="6932168" y="3159760"/>
                    <a:pt x="6866127" y="3225800"/>
                    <a:pt x="6784721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B3A55"/>
            </a:solidFill>
            <a:ln w="19050" cap="sq">
              <a:solidFill>
                <a:srgbClr val="1B3A55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03020" y="4046220"/>
            <a:ext cx="4219956" cy="548640"/>
            <a:chOff x="0" y="0"/>
            <a:chExt cx="5626608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26608" cy="731520"/>
            </a:xfrm>
            <a:custGeom>
              <a:avLst/>
              <a:gdLst/>
              <a:ahLst/>
              <a:cxnLst/>
              <a:rect r="r" b="b" t="t" l="l"/>
              <a:pathLst>
                <a:path h="73152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872" r="0" b="-998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62660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</a:t>
              </a:r>
              <a:r>
                <a:rPr lang="en-US" sz="255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empo y alcance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4663440"/>
            <a:ext cx="4219956" cy="1165860"/>
            <a:chOff x="0" y="0"/>
            <a:chExt cx="5626608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26608" cy="1554480"/>
            </a:xfrm>
            <a:custGeom>
              <a:avLst/>
              <a:gdLst/>
              <a:ahLst/>
              <a:cxnLst/>
              <a:rect r="r" b="b" t="t" l="l"/>
              <a:pathLst>
                <a:path h="155448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28" r="0" b="-205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626608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rocesos dispersos entre cuatro herramientas y 32 licencias usadas solo para cotizar.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2151" y="3693795"/>
            <a:ext cx="5199126" cy="2419350"/>
            <a:chOff x="0" y="0"/>
            <a:chExt cx="6932168" cy="3225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32168" cy="3225800"/>
            </a:xfrm>
            <a:custGeom>
              <a:avLst/>
              <a:gdLst/>
              <a:ahLst/>
              <a:cxnLst/>
              <a:rect r="r" b="b" t="t" l="l"/>
              <a:pathLst>
                <a:path h="3225800" w="6932168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84721" y="0"/>
                  </a:lnTo>
                  <a:cubicBezTo>
                    <a:pt x="6866127" y="0"/>
                    <a:pt x="6932168" y="66040"/>
                    <a:pt x="6932168" y="147447"/>
                  </a:cubicBezTo>
                  <a:lnTo>
                    <a:pt x="6932168" y="3078353"/>
                  </a:lnTo>
                  <a:cubicBezTo>
                    <a:pt x="6932168" y="3159760"/>
                    <a:pt x="6866127" y="3225800"/>
                    <a:pt x="6784721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B3A55"/>
            </a:solidFill>
            <a:ln w="19050" cap="sq">
              <a:solidFill>
                <a:srgbClr val="1B3A5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031736" y="4046220"/>
            <a:ext cx="4219956" cy="548640"/>
            <a:chOff x="0" y="0"/>
            <a:chExt cx="5626608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26608" cy="731520"/>
            </a:xfrm>
            <a:custGeom>
              <a:avLst/>
              <a:gdLst/>
              <a:ahLst/>
              <a:cxnLst/>
              <a:rect r="r" b="b" t="t" l="l"/>
              <a:pathLst>
                <a:path h="73152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872" r="0" b="-9987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62660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 solución acotada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31736" y="4663440"/>
            <a:ext cx="4219956" cy="1165860"/>
            <a:chOff x="0" y="0"/>
            <a:chExt cx="5626608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26608" cy="1554480"/>
            </a:xfrm>
            <a:custGeom>
              <a:avLst/>
              <a:gdLst/>
              <a:ahLst/>
              <a:cxnLst/>
              <a:rect r="r" b="b" t="t" l="l"/>
              <a:pathLst>
                <a:path h="155448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28" r="0" b="-2052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626608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Seis módulos, integración con SAP y un alcance que cabrá en el semestre.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70867" y="3693795"/>
            <a:ext cx="5199126" cy="2419350"/>
            <a:chOff x="0" y="0"/>
            <a:chExt cx="6932168" cy="3225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32168" cy="3225800"/>
            </a:xfrm>
            <a:custGeom>
              <a:avLst/>
              <a:gdLst/>
              <a:ahLst/>
              <a:cxnLst/>
              <a:rect r="r" b="b" t="t" l="l"/>
              <a:pathLst>
                <a:path h="3225800" w="6932168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84721" y="0"/>
                  </a:lnTo>
                  <a:cubicBezTo>
                    <a:pt x="6866127" y="0"/>
                    <a:pt x="6932168" y="66040"/>
                    <a:pt x="6932168" y="147447"/>
                  </a:cubicBezTo>
                  <a:lnTo>
                    <a:pt x="6932168" y="3078353"/>
                  </a:lnTo>
                  <a:cubicBezTo>
                    <a:pt x="6932168" y="3159760"/>
                    <a:pt x="6866127" y="3225800"/>
                    <a:pt x="6784721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B3A55"/>
            </a:solidFill>
            <a:ln w="19050" cap="sq">
              <a:solidFill>
                <a:srgbClr val="1B3A5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760452" y="4046220"/>
            <a:ext cx="4219956" cy="548640"/>
            <a:chOff x="0" y="0"/>
            <a:chExt cx="5626608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26608" cy="731520"/>
            </a:xfrm>
            <a:custGeom>
              <a:avLst/>
              <a:gdLst/>
              <a:ahLst/>
              <a:cxnLst/>
              <a:rect r="r" b="b" t="t" l="l"/>
              <a:pathLst>
                <a:path h="73152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872" r="0" b="-998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62660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8B3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 valor verificable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60452" y="4663440"/>
            <a:ext cx="4219956" cy="1277234"/>
            <a:chOff x="0" y="0"/>
            <a:chExt cx="5626608" cy="17029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26608" cy="1702978"/>
            </a:xfrm>
            <a:custGeom>
              <a:avLst/>
              <a:gdLst/>
              <a:ahLst/>
              <a:cxnLst/>
              <a:rect r="r" b="b" t="t" l="l"/>
              <a:pathLst>
                <a:path h="1702978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1702978"/>
                  </a:lnTo>
                  <a:lnTo>
                    <a:pt x="0" y="17029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38" r="0" b="-1001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626608" cy="1750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ahorro y lDará trazabilidad a cada proceso, con un ahorro estimado entre USD 48.000 y USD 57.600.a trazabilidad se pueden medir al terminar.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9839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13232"/>
            <a:ext cx="16637508" cy="907647"/>
            <a:chOff x="0" y="0"/>
            <a:chExt cx="22183344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3344" cy="1210196"/>
            </a:xfrm>
            <a:custGeom>
              <a:avLst/>
              <a:gdLst/>
              <a:ahLst/>
              <a:cxnLst/>
              <a:rect r="r" b="b" t="t" l="l"/>
              <a:pathLst>
                <a:path h="1210196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322" r="0" b="-304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2183344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  <a:r>
                <a:rPr lang="en-US" sz="45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rincipales riesgos y medidas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3435" y="1981962"/>
            <a:ext cx="754380" cy="68580"/>
            <a:chOff x="0" y="0"/>
            <a:chExt cx="1005840" cy="91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468880"/>
            <a:ext cx="5486400" cy="411480"/>
            <a:chOff x="0" y="0"/>
            <a:chExt cx="73152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91272" y="2468880"/>
            <a:ext cx="5486400" cy="411480"/>
            <a:chOff x="0" y="0"/>
            <a:chExt cx="73152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MEDIDA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3435" y="3007995"/>
            <a:ext cx="16656558" cy="1047750"/>
            <a:chOff x="0" y="0"/>
            <a:chExt cx="22208744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2059773" y="0"/>
                  </a:lnTo>
                  <a:cubicBezTo>
                    <a:pt x="22142069" y="0"/>
                    <a:pt x="22208744" y="66675"/>
                    <a:pt x="22208744" y="148971"/>
                  </a:cubicBezTo>
                  <a:lnTo>
                    <a:pt x="22208744" y="1248029"/>
                  </a:lnTo>
                  <a:cubicBezTo>
                    <a:pt x="22208744" y="1330325"/>
                    <a:pt x="22142069" y="1397000"/>
                    <a:pt x="22059773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3017520"/>
            <a:ext cx="6446520" cy="1028700"/>
            <a:chOff x="0" y="0"/>
            <a:chExt cx="859536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95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59536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</a:t>
              </a: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cto mayor que el tiempo disponible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91272" y="2880360"/>
            <a:ext cx="9368028" cy="1028700"/>
            <a:chOff x="0" y="0"/>
            <a:chExt cx="1249070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9070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490703">
                  <a:moveTo>
                    <a:pt x="0" y="0"/>
                  </a:moveTo>
                  <a:lnTo>
                    <a:pt x="12490703" y="0"/>
                  </a:lnTo>
                  <a:lnTo>
                    <a:pt x="12490703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72" r="6295" b="-1162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490704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40"/>
                </a:lnSpc>
              </a:pPr>
            </a:p>
            <a:p>
              <a:pPr algn="just">
                <a:lnSpc>
                  <a:spcPts val="2340"/>
                </a:lnSpc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Acotar</a:t>
              </a: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el producto mínimo viable, priorizar funciones esenciales y registrar funcionalidades secundarias como trabajo futuro.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3435" y="4201287"/>
            <a:ext cx="16656558" cy="1047750"/>
            <a:chOff x="0" y="0"/>
            <a:chExt cx="22208744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2059773" y="0"/>
                  </a:lnTo>
                  <a:cubicBezTo>
                    <a:pt x="22142069" y="0"/>
                    <a:pt x="22208744" y="66675"/>
                    <a:pt x="22208744" y="148971"/>
                  </a:cubicBezTo>
                  <a:lnTo>
                    <a:pt x="22208744" y="1248029"/>
                  </a:lnTo>
                  <a:cubicBezTo>
                    <a:pt x="22208744" y="1330325"/>
                    <a:pt x="22142069" y="1397000"/>
                    <a:pt x="22059773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F7F7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4210812"/>
            <a:ext cx="6446520" cy="1028700"/>
            <a:chOff x="0" y="0"/>
            <a:chExt cx="859536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59536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Cambios en los requerimientos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91272" y="4210812"/>
            <a:ext cx="9368028" cy="1028700"/>
            <a:chOff x="0" y="0"/>
            <a:chExt cx="12490704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9070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490703">
                  <a:moveTo>
                    <a:pt x="0" y="0"/>
                  </a:moveTo>
                  <a:lnTo>
                    <a:pt x="12490703" y="0"/>
                  </a:lnTo>
                  <a:lnTo>
                    <a:pt x="12490703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72" r="6295" b="-1162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490704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40"/>
                </a:lnSpc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Refinar el Product Backlog y acordar los cambios relevantes con la organización y el docente.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3435" y="5394579"/>
            <a:ext cx="16656558" cy="1047750"/>
            <a:chOff x="0" y="0"/>
            <a:chExt cx="22208744" cy="1397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2059773" y="0"/>
                  </a:lnTo>
                  <a:cubicBezTo>
                    <a:pt x="22142069" y="0"/>
                    <a:pt x="22208744" y="66675"/>
                    <a:pt x="22208744" y="148971"/>
                  </a:cubicBezTo>
                  <a:lnTo>
                    <a:pt x="22208744" y="1248029"/>
                  </a:lnTo>
                  <a:cubicBezTo>
                    <a:pt x="22208744" y="1330325"/>
                    <a:pt x="22142069" y="1397000"/>
                    <a:pt x="22059773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5404104"/>
            <a:ext cx="6446520" cy="1028700"/>
            <a:chOff x="0" y="0"/>
            <a:chExt cx="859536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95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59536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Disponibilidad de los integrantes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91272" y="5404104"/>
            <a:ext cx="9368028" cy="1028700"/>
            <a:chOff x="0" y="0"/>
            <a:chExt cx="12490704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9070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490703">
                  <a:moveTo>
                    <a:pt x="0" y="0"/>
                  </a:moveTo>
                  <a:lnTo>
                    <a:pt x="12490703" y="0"/>
                  </a:lnTo>
                  <a:lnTo>
                    <a:pt x="12490703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72" r="6295" b="-11627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2490704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40"/>
                </a:lnSpc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Distribuir las tareas por sprint, comunicar impedimentos y reasignar actividades cuando sea necesario.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3435" y="6587871"/>
            <a:ext cx="16656558" cy="1047750"/>
            <a:chOff x="0" y="0"/>
            <a:chExt cx="22208744" cy="1397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2059773" y="0"/>
                  </a:lnTo>
                  <a:cubicBezTo>
                    <a:pt x="22142069" y="0"/>
                    <a:pt x="22208744" y="66675"/>
                    <a:pt x="22208744" y="148971"/>
                  </a:cubicBezTo>
                  <a:lnTo>
                    <a:pt x="22208744" y="1248029"/>
                  </a:lnTo>
                  <a:cubicBezTo>
                    <a:pt x="22208744" y="1330325"/>
                    <a:pt x="22142069" y="1397000"/>
                    <a:pt x="22059773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7F7F7"/>
            </a:solidFill>
            <a:ln w="19050" cap="sq">
              <a:solidFill>
                <a:srgbClr val="F7F7F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34440" y="6597396"/>
            <a:ext cx="6446520" cy="1028700"/>
            <a:chOff x="0" y="0"/>
            <a:chExt cx="859536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95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59536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Falta de a</a:t>
              </a: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cceso al entorno real de SAP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91272" y="6597396"/>
            <a:ext cx="9368028" cy="1028700"/>
            <a:chOff x="0" y="0"/>
            <a:chExt cx="12490704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49070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490703">
                  <a:moveTo>
                    <a:pt x="0" y="0"/>
                  </a:moveTo>
                  <a:lnTo>
                    <a:pt x="12490703" y="0"/>
                  </a:lnTo>
                  <a:lnTo>
                    <a:pt x="12490703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72" r="6295" b="-1162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490704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40"/>
                </a:lnSpc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Utilizar datos ficticios y servicios simulados que reproduzcan las consultas y respuestas necesarias.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7781163"/>
            <a:ext cx="16656558" cy="1047750"/>
            <a:chOff x="0" y="0"/>
            <a:chExt cx="22208744" cy="1397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2059773" y="0"/>
                  </a:lnTo>
                  <a:cubicBezTo>
                    <a:pt x="22142069" y="0"/>
                    <a:pt x="22208744" y="66675"/>
                    <a:pt x="22208744" y="148971"/>
                  </a:cubicBezTo>
                  <a:lnTo>
                    <a:pt x="22208744" y="1248029"/>
                  </a:lnTo>
                  <a:cubicBezTo>
                    <a:pt x="22208744" y="1330325"/>
                    <a:pt x="22142069" y="1397000"/>
                    <a:pt x="22059773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34440" y="7790688"/>
            <a:ext cx="6446520" cy="1028700"/>
            <a:chOff x="0" y="0"/>
            <a:chExt cx="859536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59536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Confidencialidad de la información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891272" y="7790688"/>
            <a:ext cx="9216944" cy="1028700"/>
            <a:chOff x="0" y="0"/>
            <a:chExt cx="12289259" cy="137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289258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289258">
                  <a:moveTo>
                    <a:pt x="0" y="0"/>
                  </a:moveTo>
                  <a:lnTo>
                    <a:pt x="12289258" y="0"/>
                  </a:lnTo>
                  <a:lnTo>
                    <a:pt x="1228925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72" r="4759" b="-11627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2289259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195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antener el repositorio privado y utilizar evidencias sanitizadas sin credenciales, rutas internas ni datos empresariales.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301752"/>
            <a:ext cx="5486400" cy="411480"/>
            <a:chOff x="0" y="0"/>
            <a:chExt cx="73152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RIESGOS Y MEDIDAS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13435" y="1446657"/>
            <a:ext cx="14640678" cy="411480"/>
            <a:chOff x="0" y="0"/>
            <a:chExt cx="19520904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520905" cy="548640"/>
            </a:xfrm>
            <a:custGeom>
              <a:avLst/>
              <a:gdLst/>
              <a:ahLst/>
              <a:cxnLst/>
              <a:rect r="r" b="b" t="t" l="l"/>
              <a:pathLst>
                <a:path h="548640" w="19520905">
                  <a:moveTo>
                    <a:pt x="0" y="0"/>
                  </a:moveTo>
                  <a:lnTo>
                    <a:pt x="19520905" y="0"/>
                  </a:lnTo>
                  <a:lnTo>
                    <a:pt x="1952090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62526" b="-2098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952090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249"/>
                </a:lnSpc>
              </a:pPr>
              <a:r>
                <a:rPr lang="en-US" b="true" sz="1874" spc="178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 tecnologías serán de libre acceso y ya contamos con los materiales: el riesgo principal será de dimensionamiento.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3068" y="8183880"/>
            <a:ext cx="2057400" cy="506120"/>
            <a:chOff x="0" y="0"/>
            <a:chExt cx="2743200" cy="67482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743200" cy="674878"/>
            </a:xfrm>
            <a:custGeom>
              <a:avLst/>
              <a:gdLst/>
              <a:ahLst/>
              <a:cxnLst/>
              <a:rect r="r" b="b" t="t" l="l"/>
              <a:pathLst>
                <a:path h="67487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74878"/>
                  </a:lnTo>
                  <a:lnTo>
                    <a:pt x="0" y="67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14717"/>
            <a:ext cx="4407889" cy="850392"/>
            <a:chOff x="0" y="0"/>
            <a:chExt cx="5877185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77185" cy="1133856"/>
            </a:xfrm>
            <a:custGeom>
              <a:avLst/>
              <a:gdLst/>
              <a:ahLst/>
              <a:cxnLst/>
              <a:rect r="r" b="b" t="t" l="l"/>
              <a:pathLst>
                <a:path h="1133856" w="5877185">
                  <a:moveTo>
                    <a:pt x="0" y="0"/>
                  </a:moveTo>
                  <a:lnTo>
                    <a:pt x="5877185" y="0"/>
                  </a:lnTo>
                  <a:lnTo>
                    <a:pt x="5877185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215" r="-277448" b="-3312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5877185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 propuestas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84187"/>
            <a:ext cx="16637508" cy="521208"/>
            <a:chOff x="0" y="0"/>
            <a:chExt cx="22183344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3344" cy="694944"/>
            </a:xfrm>
            <a:custGeom>
              <a:avLst/>
              <a:gdLst/>
              <a:ahLst/>
              <a:cxnLst/>
              <a:rect r="r" b="b" t="t" l="l"/>
              <a:pathLst>
                <a:path h="694944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982" r="0" b="-571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1833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</a:t>
              </a:r>
              <a:r>
                <a:rPr lang="en-US" sz="21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ENTREGAREMOS.  REVISARRRRRR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3045" y="1326590"/>
            <a:ext cx="754380" cy="68580"/>
            <a:chOff x="0" y="0"/>
            <a:chExt cx="10058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2482" y="1531784"/>
            <a:ext cx="7475077" cy="1047750"/>
            <a:chOff x="0" y="0"/>
            <a:chExt cx="9966769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6769" cy="1397000"/>
            </a:xfrm>
            <a:custGeom>
              <a:avLst/>
              <a:gdLst/>
              <a:ahLst/>
              <a:cxnLst/>
              <a:rect r="r" b="b" t="t" l="l"/>
              <a:pathLst>
                <a:path h="1397000" w="9966769">
                  <a:moveTo>
                    <a:pt x="0" y="148971"/>
                  </a:moveTo>
                  <a:cubicBezTo>
                    <a:pt x="0" y="66675"/>
                    <a:pt x="62340" y="0"/>
                    <a:pt x="139285" y="0"/>
                  </a:cubicBezTo>
                  <a:lnTo>
                    <a:pt x="9827484" y="0"/>
                  </a:lnTo>
                  <a:cubicBezTo>
                    <a:pt x="9904429" y="0"/>
                    <a:pt x="9966769" y="66675"/>
                    <a:pt x="9966769" y="148971"/>
                  </a:cubicBezTo>
                  <a:lnTo>
                    <a:pt x="9966769" y="1248029"/>
                  </a:lnTo>
                  <a:cubicBezTo>
                    <a:pt x="9966769" y="1330325"/>
                    <a:pt x="9904429" y="1397000"/>
                    <a:pt x="9827484" y="1397000"/>
                  </a:cubicBezTo>
                  <a:lnTo>
                    <a:pt x="139285" y="1397000"/>
                  </a:lnTo>
                  <a:cubicBezTo>
                    <a:pt x="62340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8B31C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22007" y="1522259"/>
            <a:ext cx="6003439" cy="1028700"/>
            <a:chOff x="0" y="0"/>
            <a:chExt cx="8004585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04585" cy="1371600"/>
            </a:xfrm>
            <a:custGeom>
              <a:avLst/>
              <a:gdLst/>
              <a:ahLst/>
              <a:cxnLst/>
              <a:rect r="r" b="b" t="t" l="l"/>
              <a:pathLst>
                <a:path h="1371600" w="8004585">
                  <a:moveTo>
                    <a:pt x="0" y="0"/>
                  </a:moveTo>
                  <a:lnTo>
                    <a:pt x="8004585" y="0"/>
                  </a:lnTo>
                  <a:lnTo>
                    <a:pt x="800458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887" r="-16861" b="-828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004585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AVANCE — D</a:t>
              </a: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ocumento de análisis y diseño del proyecto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2482" y="2684309"/>
            <a:ext cx="7475077" cy="3126729"/>
            <a:chOff x="0" y="0"/>
            <a:chExt cx="9966769" cy="41689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66769" cy="4168971"/>
            </a:xfrm>
            <a:custGeom>
              <a:avLst/>
              <a:gdLst/>
              <a:ahLst/>
              <a:cxnLst/>
              <a:rect r="r" b="b" t="t" l="l"/>
              <a:pathLst>
                <a:path h="4168971" w="9966769">
                  <a:moveTo>
                    <a:pt x="0" y="247082"/>
                  </a:moveTo>
                  <a:cubicBezTo>
                    <a:pt x="0" y="110592"/>
                    <a:pt x="61865" y="0"/>
                    <a:pt x="138216" y="0"/>
                  </a:cubicBezTo>
                  <a:lnTo>
                    <a:pt x="9828553" y="0"/>
                  </a:lnTo>
                  <a:cubicBezTo>
                    <a:pt x="9904904" y="0"/>
                    <a:pt x="9966769" y="110592"/>
                    <a:pt x="9966769" y="247082"/>
                  </a:cubicBezTo>
                  <a:lnTo>
                    <a:pt x="9966769" y="3921890"/>
                  </a:lnTo>
                  <a:cubicBezTo>
                    <a:pt x="9966769" y="4058379"/>
                    <a:pt x="9904904" y="4168971"/>
                    <a:pt x="9828553" y="4168971"/>
                  </a:cubicBezTo>
                  <a:lnTo>
                    <a:pt x="138216" y="4168971"/>
                  </a:lnTo>
                  <a:cubicBezTo>
                    <a:pt x="61865" y="4168971"/>
                    <a:pt x="0" y="4058379"/>
                    <a:pt x="0" y="39218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70235" y="2884328"/>
            <a:ext cx="384726" cy="75000"/>
            <a:chOff x="0" y="0"/>
            <a:chExt cx="512968" cy="10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968" cy="100000"/>
            </a:xfrm>
            <a:custGeom>
              <a:avLst/>
              <a:gdLst/>
              <a:ahLst/>
              <a:cxnLst/>
              <a:rect r="r" b="b" t="t" l="l"/>
              <a:pathLst>
                <a:path h="100000" w="512968">
                  <a:moveTo>
                    <a:pt x="0" y="0"/>
                  </a:moveTo>
                  <a:lnTo>
                    <a:pt x="512968" y="0"/>
                  </a:lnTo>
                  <a:lnTo>
                    <a:pt x="512968" y="100000"/>
                  </a:lnTo>
                  <a:lnTo>
                    <a:pt x="0" y="10000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0235" y="3168277"/>
            <a:ext cx="6559572" cy="1275575"/>
            <a:chOff x="0" y="0"/>
            <a:chExt cx="8746096" cy="17007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46096" cy="1700767"/>
            </a:xfrm>
            <a:custGeom>
              <a:avLst/>
              <a:gdLst/>
              <a:ahLst/>
              <a:cxnLst/>
              <a:rect r="r" b="b" t="t" l="l"/>
              <a:pathLst>
                <a:path h="1700767" w="8746096">
                  <a:moveTo>
                    <a:pt x="0" y="0"/>
                  </a:moveTo>
                  <a:lnTo>
                    <a:pt x="8746096" y="0"/>
                  </a:lnTo>
                  <a:lnTo>
                    <a:pt x="8746096" y="1700767"/>
                  </a:lnTo>
                  <a:lnTo>
                    <a:pt x="0" y="17007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351" r="-6954" b="-259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746096" cy="173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0"/>
                </a:lnSpc>
              </a:pPr>
              <a:r>
                <a:rPr lang="en-US" sz="18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Incluirá la problemática, alcance, requerimientos funcionales y no funcionales, historias de usuario, criterios de aceptación, procesos modelados, arquitectura propuesta, modelo de datos y diseño inicial de interfaces.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0235" y="4443852"/>
            <a:ext cx="6559572" cy="1056796"/>
            <a:chOff x="0" y="0"/>
            <a:chExt cx="8746096" cy="14090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46096" cy="1409061"/>
            </a:xfrm>
            <a:custGeom>
              <a:avLst/>
              <a:gdLst/>
              <a:ahLst/>
              <a:cxnLst/>
              <a:rect r="r" b="b" t="t" l="l"/>
              <a:pathLst>
                <a:path h="1409061" w="8746096">
                  <a:moveTo>
                    <a:pt x="0" y="0"/>
                  </a:moveTo>
                  <a:lnTo>
                    <a:pt x="8746096" y="0"/>
                  </a:lnTo>
                  <a:lnTo>
                    <a:pt x="8746096" y="1409061"/>
                  </a:lnTo>
                  <a:lnTo>
                    <a:pt x="0" y="14090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52" r="-6954" b="-585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746096" cy="1456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Justificación: demostrará que el desarrollo se basa en una problemática real, requerimientos definidos y una planificación técnica coherente.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65564" y="1522259"/>
            <a:ext cx="7994904" cy="1047750"/>
            <a:chOff x="0" y="0"/>
            <a:chExt cx="10659872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59872" cy="1397000"/>
            </a:xfrm>
            <a:custGeom>
              <a:avLst/>
              <a:gdLst/>
              <a:ahLst/>
              <a:cxnLst/>
              <a:rect r="r" b="b" t="t" l="l"/>
              <a:pathLst>
                <a:path h="1397000" w="1065987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0510901" y="0"/>
                  </a:lnTo>
                  <a:cubicBezTo>
                    <a:pt x="10593197" y="0"/>
                    <a:pt x="10659872" y="66675"/>
                    <a:pt x="10659872" y="148971"/>
                  </a:cubicBezTo>
                  <a:lnTo>
                    <a:pt x="10659872" y="1248029"/>
                  </a:lnTo>
                  <a:cubicBezTo>
                    <a:pt x="10659872" y="1330325"/>
                    <a:pt x="10593197" y="1397000"/>
                    <a:pt x="10510901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955149" y="1531784"/>
            <a:ext cx="7015734" cy="1028700"/>
            <a:chOff x="0" y="0"/>
            <a:chExt cx="9354312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54312" cy="1371600"/>
            </a:xfrm>
            <a:custGeom>
              <a:avLst/>
              <a:gdLst/>
              <a:ahLst/>
              <a:cxnLst/>
              <a:rect r="r" b="b" t="t" l="l"/>
              <a:pathLst>
                <a:path h="1371600" w="9354312">
                  <a:moveTo>
                    <a:pt x="0" y="0"/>
                  </a:moveTo>
                  <a:lnTo>
                    <a:pt x="9354312" y="0"/>
                  </a:lnTo>
                  <a:lnTo>
                    <a:pt x="935431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887" r="0" b="-828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354312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AVANCE — Registr</a:t>
              </a:r>
              <a:r>
                <a:rPr lang="en-US" sz="27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visual del incremento funcional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65564" y="2684309"/>
            <a:ext cx="7994904" cy="3126729"/>
            <a:chOff x="0" y="0"/>
            <a:chExt cx="10659872" cy="41689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59872" cy="4168971"/>
            </a:xfrm>
            <a:custGeom>
              <a:avLst/>
              <a:gdLst/>
              <a:ahLst/>
              <a:cxnLst/>
              <a:rect r="r" b="b" t="t" l="l"/>
              <a:pathLst>
                <a:path h="4168971" w="10659872">
                  <a:moveTo>
                    <a:pt x="0" y="247082"/>
                  </a:moveTo>
                  <a:cubicBezTo>
                    <a:pt x="0" y="110592"/>
                    <a:pt x="66167" y="0"/>
                    <a:pt x="147828" y="0"/>
                  </a:cubicBezTo>
                  <a:lnTo>
                    <a:pt x="10512044" y="0"/>
                  </a:lnTo>
                  <a:cubicBezTo>
                    <a:pt x="10593705" y="0"/>
                    <a:pt x="10659872" y="110592"/>
                    <a:pt x="10659872" y="247082"/>
                  </a:cubicBezTo>
                  <a:lnTo>
                    <a:pt x="10659872" y="3921890"/>
                  </a:lnTo>
                  <a:cubicBezTo>
                    <a:pt x="10659872" y="4058379"/>
                    <a:pt x="10593705" y="4168971"/>
                    <a:pt x="10512044" y="4168971"/>
                  </a:cubicBezTo>
                  <a:lnTo>
                    <a:pt x="147828" y="4168971"/>
                  </a:lnTo>
                  <a:cubicBezTo>
                    <a:pt x="66167" y="4168971"/>
                    <a:pt x="0" y="4058379"/>
                    <a:pt x="0" y="39218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955149" y="2884328"/>
            <a:ext cx="411480" cy="75000"/>
            <a:chOff x="0" y="0"/>
            <a:chExt cx="548640" cy="10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0" cy="100000"/>
            </a:xfrm>
            <a:custGeom>
              <a:avLst/>
              <a:gdLst/>
              <a:ahLst/>
              <a:cxnLst/>
              <a:rect r="r" b="b" t="t" l="l"/>
              <a:pathLst>
                <a:path h="1000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100000"/>
                  </a:lnTo>
                  <a:lnTo>
                    <a:pt x="0" y="10000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955149" y="3168277"/>
            <a:ext cx="7015734" cy="1275575"/>
            <a:chOff x="0" y="0"/>
            <a:chExt cx="9354312" cy="17007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354312" cy="1700767"/>
            </a:xfrm>
            <a:custGeom>
              <a:avLst/>
              <a:gdLst/>
              <a:ahLst/>
              <a:cxnLst/>
              <a:rect r="r" b="b" t="t" l="l"/>
              <a:pathLst>
                <a:path h="1700767" w="9354312">
                  <a:moveTo>
                    <a:pt x="0" y="0"/>
                  </a:moveTo>
                  <a:lnTo>
                    <a:pt x="9354312" y="0"/>
                  </a:lnTo>
                  <a:lnTo>
                    <a:pt x="9354312" y="1700767"/>
                  </a:lnTo>
                  <a:lnTo>
                    <a:pt x="0" y="17007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351" r="0" b="-259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354312" cy="173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0"/>
                </a:lnSpc>
              </a:pPr>
              <a:r>
                <a:rPr lang="en-US" sz="18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Capturas de pantalla o video de las funcionalidades desarrolladas, utilizando usuarios y datos ficticios. No se entregará código fuente ni acceso a las carpetas o al repositorio.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55149" y="4443852"/>
            <a:ext cx="7015734" cy="1056796"/>
            <a:chOff x="0" y="0"/>
            <a:chExt cx="9354312" cy="14090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54312" cy="1409061"/>
            </a:xfrm>
            <a:custGeom>
              <a:avLst/>
              <a:gdLst/>
              <a:ahLst/>
              <a:cxnLst/>
              <a:rect r="r" b="b" t="t" l="l"/>
              <a:pathLst>
                <a:path h="1409061" w="9354312">
                  <a:moveTo>
                    <a:pt x="0" y="0"/>
                  </a:moveTo>
                  <a:lnTo>
                    <a:pt x="9354312" y="0"/>
                  </a:lnTo>
                  <a:lnTo>
                    <a:pt x="9354312" y="1409061"/>
                  </a:lnTo>
                  <a:lnTo>
                    <a:pt x="0" y="14090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52" r="0" b="-585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354312" cy="1456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Justificación: permitirá comprobar el avance funcional protegiendo los activos tecnológicos y la información de la empresa.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12482" y="5887238"/>
            <a:ext cx="7475077" cy="1047750"/>
            <a:chOff x="0" y="0"/>
            <a:chExt cx="9966769" cy="139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966769" cy="1397000"/>
            </a:xfrm>
            <a:custGeom>
              <a:avLst/>
              <a:gdLst/>
              <a:ahLst/>
              <a:cxnLst/>
              <a:rect r="r" b="b" t="t" l="l"/>
              <a:pathLst>
                <a:path h="1397000" w="9966769">
                  <a:moveTo>
                    <a:pt x="0" y="148971"/>
                  </a:moveTo>
                  <a:cubicBezTo>
                    <a:pt x="0" y="66675"/>
                    <a:pt x="62340" y="0"/>
                    <a:pt x="139285" y="0"/>
                  </a:cubicBezTo>
                  <a:lnTo>
                    <a:pt x="9827484" y="0"/>
                  </a:lnTo>
                  <a:cubicBezTo>
                    <a:pt x="9904429" y="0"/>
                    <a:pt x="9966769" y="66675"/>
                    <a:pt x="9966769" y="148971"/>
                  </a:cubicBezTo>
                  <a:lnTo>
                    <a:pt x="9966769" y="1248029"/>
                  </a:lnTo>
                  <a:cubicBezTo>
                    <a:pt x="9966769" y="1330325"/>
                    <a:pt x="9904429" y="1397000"/>
                    <a:pt x="9827484" y="1397000"/>
                  </a:cubicBezTo>
                  <a:lnTo>
                    <a:pt x="139285" y="1397000"/>
                  </a:lnTo>
                  <a:cubicBezTo>
                    <a:pt x="62340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8B31C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22007" y="5877713"/>
            <a:ext cx="6003439" cy="1028700"/>
            <a:chOff x="0" y="0"/>
            <a:chExt cx="8004585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04585" cy="1371600"/>
            </a:xfrm>
            <a:custGeom>
              <a:avLst/>
              <a:gdLst/>
              <a:ahLst/>
              <a:cxnLst/>
              <a:rect r="r" b="b" t="t" l="l"/>
              <a:pathLst>
                <a:path h="1371600" w="8004585">
                  <a:moveTo>
                    <a:pt x="0" y="0"/>
                  </a:moveTo>
                  <a:lnTo>
                    <a:pt x="8004585" y="0"/>
                  </a:lnTo>
                  <a:lnTo>
                    <a:pt x="800458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887" r="-16861" b="-828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004585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— Dem</a:t>
              </a: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ostración controlada de la plataforma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12482" y="7039763"/>
            <a:ext cx="7475077" cy="3126729"/>
            <a:chOff x="0" y="0"/>
            <a:chExt cx="9966769" cy="41689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66769" cy="4168971"/>
            </a:xfrm>
            <a:custGeom>
              <a:avLst/>
              <a:gdLst/>
              <a:ahLst/>
              <a:cxnLst/>
              <a:rect r="r" b="b" t="t" l="l"/>
              <a:pathLst>
                <a:path h="4168971" w="9966769">
                  <a:moveTo>
                    <a:pt x="0" y="247082"/>
                  </a:moveTo>
                  <a:cubicBezTo>
                    <a:pt x="0" y="110592"/>
                    <a:pt x="61865" y="0"/>
                    <a:pt x="138216" y="0"/>
                  </a:cubicBezTo>
                  <a:lnTo>
                    <a:pt x="9828553" y="0"/>
                  </a:lnTo>
                  <a:cubicBezTo>
                    <a:pt x="9904904" y="0"/>
                    <a:pt x="9966769" y="110592"/>
                    <a:pt x="9966769" y="247082"/>
                  </a:cubicBezTo>
                  <a:lnTo>
                    <a:pt x="9966769" y="3921890"/>
                  </a:lnTo>
                  <a:cubicBezTo>
                    <a:pt x="9966769" y="4058379"/>
                    <a:pt x="9904904" y="4168971"/>
                    <a:pt x="9828553" y="4168971"/>
                  </a:cubicBezTo>
                  <a:lnTo>
                    <a:pt x="138216" y="4168971"/>
                  </a:lnTo>
                  <a:cubicBezTo>
                    <a:pt x="61865" y="4168971"/>
                    <a:pt x="0" y="4058379"/>
                    <a:pt x="0" y="39218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70235" y="7239782"/>
            <a:ext cx="384726" cy="75000"/>
            <a:chOff x="0" y="0"/>
            <a:chExt cx="512968" cy="100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968" cy="100000"/>
            </a:xfrm>
            <a:custGeom>
              <a:avLst/>
              <a:gdLst/>
              <a:ahLst/>
              <a:cxnLst/>
              <a:rect r="r" b="b" t="t" l="l"/>
              <a:pathLst>
                <a:path h="100000" w="512968">
                  <a:moveTo>
                    <a:pt x="0" y="0"/>
                  </a:moveTo>
                  <a:lnTo>
                    <a:pt x="512968" y="0"/>
                  </a:lnTo>
                  <a:lnTo>
                    <a:pt x="512968" y="100000"/>
                  </a:lnTo>
                  <a:lnTo>
                    <a:pt x="0" y="10000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70235" y="7523731"/>
            <a:ext cx="6559572" cy="1275575"/>
            <a:chOff x="0" y="0"/>
            <a:chExt cx="8746096" cy="170076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46096" cy="1700767"/>
            </a:xfrm>
            <a:custGeom>
              <a:avLst/>
              <a:gdLst/>
              <a:ahLst/>
              <a:cxnLst/>
              <a:rect r="r" b="b" t="t" l="l"/>
              <a:pathLst>
                <a:path h="1700767" w="8746096">
                  <a:moveTo>
                    <a:pt x="0" y="0"/>
                  </a:moveTo>
                  <a:lnTo>
                    <a:pt x="8746096" y="0"/>
                  </a:lnTo>
                  <a:lnTo>
                    <a:pt x="8746096" y="1700767"/>
                  </a:lnTo>
                  <a:lnTo>
                    <a:pt x="0" y="17007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351" r="-6954" b="-2598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746096" cy="173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0"/>
                </a:lnSpc>
              </a:pPr>
              <a:r>
                <a:rPr lang="en-US" sz="18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Presentación presencial o mediante videollamada de los módulos seleccionados y sus flujos principales, utilizando un ambiente seguro con datos ficticios.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0235" y="8799306"/>
            <a:ext cx="6559572" cy="1869016"/>
            <a:chOff x="0" y="0"/>
            <a:chExt cx="8746096" cy="249202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46096" cy="2492021"/>
            </a:xfrm>
            <a:custGeom>
              <a:avLst/>
              <a:gdLst/>
              <a:ahLst/>
              <a:cxnLst/>
              <a:rect r="r" b="b" t="t" l="l"/>
              <a:pathLst>
                <a:path h="2492021" w="8746096">
                  <a:moveTo>
                    <a:pt x="0" y="0"/>
                  </a:moveTo>
                  <a:lnTo>
                    <a:pt x="8746096" y="0"/>
                  </a:lnTo>
                  <a:lnTo>
                    <a:pt x="8746096" y="2492021"/>
                  </a:lnTo>
                  <a:lnTo>
                    <a:pt x="0" y="24920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629" r="-6954" b="1034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8746096" cy="2539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Justificación: permitirá validar el funcionamiento del proyecto sin entregar una copia ejecutable, acceso permanente ni componentes internos de la solución.</a:t>
              </a:r>
            </a:p>
            <a:p>
              <a:pPr algn="just">
                <a:lnSpc>
                  <a:spcPts val="236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65564" y="5877713"/>
            <a:ext cx="7994904" cy="1047750"/>
            <a:chOff x="0" y="0"/>
            <a:chExt cx="10659872" cy="1397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659872" cy="1397000"/>
            </a:xfrm>
            <a:custGeom>
              <a:avLst/>
              <a:gdLst/>
              <a:ahLst/>
              <a:cxnLst/>
              <a:rect r="r" b="b" t="t" l="l"/>
              <a:pathLst>
                <a:path h="1397000" w="1065987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0510901" y="0"/>
                  </a:lnTo>
                  <a:cubicBezTo>
                    <a:pt x="10593197" y="0"/>
                    <a:pt x="10659872" y="66675"/>
                    <a:pt x="10659872" y="148971"/>
                  </a:cubicBezTo>
                  <a:lnTo>
                    <a:pt x="10659872" y="1248029"/>
                  </a:lnTo>
                  <a:cubicBezTo>
                    <a:pt x="10659872" y="1330325"/>
                    <a:pt x="10593197" y="1397000"/>
                    <a:pt x="10510901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EEEEEE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955149" y="5887238"/>
            <a:ext cx="7015734" cy="1028700"/>
            <a:chOff x="0" y="0"/>
            <a:chExt cx="9354312" cy="1371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54312" cy="1371600"/>
            </a:xfrm>
            <a:custGeom>
              <a:avLst/>
              <a:gdLst/>
              <a:ahLst/>
              <a:cxnLst/>
              <a:rect r="r" b="b" t="t" l="l"/>
              <a:pathLst>
                <a:path h="1371600" w="9354312">
                  <a:moveTo>
                    <a:pt x="0" y="0"/>
                  </a:moveTo>
                  <a:lnTo>
                    <a:pt x="9354312" y="0"/>
                  </a:lnTo>
                  <a:lnTo>
                    <a:pt x="935431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887" r="0" b="-8288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354312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— Inf</a:t>
              </a:r>
              <a:r>
                <a:rPr lang="en-US" sz="2700" b="true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orme de resultados y pruebas sanitizado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65564" y="7039763"/>
            <a:ext cx="7994904" cy="3126729"/>
            <a:chOff x="0" y="0"/>
            <a:chExt cx="10659872" cy="41689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59872" cy="4168971"/>
            </a:xfrm>
            <a:custGeom>
              <a:avLst/>
              <a:gdLst/>
              <a:ahLst/>
              <a:cxnLst/>
              <a:rect r="r" b="b" t="t" l="l"/>
              <a:pathLst>
                <a:path h="4168971" w="10659872">
                  <a:moveTo>
                    <a:pt x="0" y="247082"/>
                  </a:moveTo>
                  <a:cubicBezTo>
                    <a:pt x="0" y="110592"/>
                    <a:pt x="66167" y="0"/>
                    <a:pt x="147828" y="0"/>
                  </a:cubicBezTo>
                  <a:lnTo>
                    <a:pt x="10512044" y="0"/>
                  </a:lnTo>
                  <a:cubicBezTo>
                    <a:pt x="10593705" y="0"/>
                    <a:pt x="10659872" y="110592"/>
                    <a:pt x="10659872" y="247082"/>
                  </a:cubicBezTo>
                  <a:lnTo>
                    <a:pt x="10659872" y="3921890"/>
                  </a:lnTo>
                  <a:cubicBezTo>
                    <a:pt x="10659872" y="4058379"/>
                    <a:pt x="10593705" y="4168971"/>
                    <a:pt x="10512044" y="4168971"/>
                  </a:cubicBezTo>
                  <a:lnTo>
                    <a:pt x="147828" y="4168971"/>
                  </a:lnTo>
                  <a:cubicBezTo>
                    <a:pt x="66167" y="4168971"/>
                    <a:pt x="0" y="4058379"/>
                    <a:pt x="0" y="39218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955149" y="7239782"/>
            <a:ext cx="411480" cy="75000"/>
            <a:chOff x="0" y="0"/>
            <a:chExt cx="548640" cy="100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" cy="100000"/>
            </a:xfrm>
            <a:custGeom>
              <a:avLst/>
              <a:gdLst/>
              <a:ahLst/>
              <a:cxnLst/>
              <a:rect r="r" b="b" t="t" l="l"/>
              <a:pathLst>
                <a:path h="1000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100000"/>
                  </a:lnTo>
                  <a:lnTo>
                    <a:pt x="0" y="100000"/>
                  </a:lnTo>
                  <a:close/>
                </a:path>
              </a:pathLst>
            </a:custGeom>
            <a:solidFill>
              <a:srgbClr val="F8B31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955149" y="7523731"/>
            <a:ext cx="7015734" cy="1275575"/>
            <a:chOff x="0" y="0"/>
            <a:chExt cx="9354312" cy="170076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354312" cy="1700767"/>
            </a:xfrm>
            <a:custGeom>
              <a:avLst/>
              <a:gdLst/>
              <a:ahLst/>
              <a:cxnLst/>
              <a:rect r="r" b="b" t="t" l="l"/>
              <a:pathLst>
                <a:path h="1700767" w="9354312">
                  <a:moveTo>
                    <a:pt x="0" y="0"/>
                  </a:moveTo>
                  <a:lnTo>
                    <a:pt x="9354312" y="0"/>
                  </a:lnTo>
                  <a:lnTo>
                    <a:pt x="9354312" y="1700767"/>
                  </a:lnTo>
                  <a:lnTo>
                    <a:pt x="0" y="17007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351" r="0" b="-2598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354312" cy="173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0"/>
                </a:lnSpc>
              </a:pPr>
              <a:r>
                <a:rPr lang="en-US" sz="18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 con casos de prueba, criterios de aceptación, resultados, incidencias corregidas y conclusiones. Las evidencias ocultarán datos, credenciales, rutas, direcciones y configuraciones sensibles.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955149" y="8799306"/>
            <a:ext cx="7015734" cy="1056796"/>
            <a:chOff x="0" y="0"/>
            <a:chExt cx="9354312" cy="140906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54312" cy="1409061"/>
            </a:xfrm>
            <a:custGeom>
              <a:avLst/>
              <a:gdLst/>
              <a:ahLst/>
              <a:cxnLst/>
              <a:rect r="r" b="b" t="t" l="l"/>
              <a:pathLst>
                <a:path h="1409061" w="9354312">
                  <a:moveTo>
                    <a:pt x="0" y="0"/>
                  </a:moveTo>
                  <a:lnTo>
                    <a:pt x="9354312" y="0"/>
                  </a:lnTo>
                  <a:lnTo>
                    <a:pt x="9354312" y="1409061"/>
                  </a:lnTo>
                  <a:lnTo>
                    <a:pt x="0" y="14090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52" r="0" b="-5855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354312" cy="1456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69"/>
                </a:lnSpc>
              </a:pPr>
              <a:r>
                <a:rPr lang="en-US" sz="1974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Justificación: permitirá acreditar la calidad y el cumplimiento de los objetivos sin comprometer la confidencialidad ni la seguridad del sistema.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286" y="1463576"/>
            <a:ext cx="7906921" cy="879073"/>
            <a:chOff x="0" y="0"/>
            <a:chExt cx="12565471" cy="139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547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565471">
                  <a:moveTo>
                    <a:pt x="0" y="148971"/>
                  </a:moveTo>
                  <a:cubicBezTo>
                    <a:pt x="0" y="66675"/>
                    <a:pt x="78594" y="0"/>
                    <a:pt x="175602" y="0"/>
                  </a:cubicBezTo>
                  <a:lnTo>
                    <a:pt x="12389869" y="0"/>
                  </a:lnTo>
                  <a:cubicBezTo>
                    <a:pt x="12486877" y="0"/>
                    <a:pt x="12565471" y="66675"/>
                    <a:pt x="12565471" y="148971"/>
                  </a:cubicBezTo>
                  <a:lnTo>
                    <a:pt x="12565471" y="1248029"/>
                  </a:lnTo>
                  <a:cubicBezTo>
                    <a:pt x="12565471" y="1330325"/>
                    <a:pt x="12486877" y="1397000"/>
                    <a:pt x="12389869" y="1397000"/>
                  </a:cubicBezTo>
                  <a:lnTo>
                    <a:pt x="175602" y="1397000"/>
                  </a:lnTo>
                  <a:cubicBezTo>
                    <a:pt x="78594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8361" y="1455584"/>
            <a:ext cx="6350265" cy="863090"/>
            <a:chOff x="0" y="0"/>
            <a:chExt cx="10091674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9167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091674">
                  <a:moveTo>
                    <a:pt x="0" y="0"/>
                  </a:moveTo>
                  <a:lnTo>
                    <a:pt x="10091674" y="0"/>
                  </a:lnTo>
                  <a:lnTo>
                    <a:pt x="1009167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87" r="7306" b="-828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09167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 necesidad real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286" y="2430557"/>
            <a:ext cx="16531014" cy="1899054"/>
            <a:chOff x="0" y="0"/>
            <a:chExt cx="26270652" cy="30179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70651" cy="3017926"/>
            </a:xfrm>
            <a:custGeom>
              <a:avLst/>
              <a:gdLst/>
              <a:ahLst/>
              <a:cxnLst/>
              <a:rect r="r" b="b" t="t" l="l"/>
              <a:pathLst>
                <a:path h="3017926" w="26270651">
                  <a:moveTo>
                    <a:pt x="0" y="178863"/>
                  </a:moveTo>
                  <a:cubicBezTo>
                    <a:pt x="0" y="80058"/>
                    <a:pt x="163065" y="0"/>
                    <a:pt x="364314" y="0"/>
                  </a:cubicBezTo>
                  <a:lnTo>
                    <a:pt x="25906338" y="0"/>
                  </a:lnTo>
                  <a:cubicBezTo>
                    <a:pt x="26107585" y="0"/>
                    <a:pt x="26270651" y="80058"/>
                    <a:pt x="26270651" y="178863"/>
                  </a:cubicBezTo>
                  <a:lnTo>
                    <a:pt x="26270651" y="2839064"/>
                  </a:lnTo>
                  <a:cubicBezTo>
                    <a:pt x="26270651" y="2937869"/>
                    <a:pt x="26107585" y="3017926"/>
                    <a:pt x="25906338" y="3017926"/>
                  </a:cubicBezTo>
                  <a:lnTo>
                    <a:pt x="364314" y="3017926"/>
                  </a:lnTo>
                  <a:cubicBezTo>
                    <a:pt x="163065" y="3017926"/>
                    <a:pt x="0" y="2937869"/>
                    <a:pt x="0" y="28390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7688" y="2685781"/>
            <a:ext cx="15733111" cy="1388605"/>
            <a:chOff x="0" y="0"/>
            <a:chExt cx="24704731" cy="2180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04731" cy="2180441"/>
            </a:xfrm>
            <a:custGeom>
              <a:avLst/>
              <a:gdLst/>
              <a:ahLst/>
              <a:cxnLst/>
              <a:rect r="r" b="b" t="t" l="l"/>
              <a:pathLst>
                <a:path h="2180441" w="24704731">
                  <a:moveTo>
                    <a:pt x="0" y="0"/>
                  </a:moveTo>
                  <a:lnTo>
                    <a:pt x="24704731" y="0"/>
                  </a:lnTo>
                  <a:lnTo>
                    <a:pt x="24704731" y="2180441"/>
                  </a:lnTo>
                  <a:lnTo>
                    <a:pt x="0" y="2180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15" r="62135" b="17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4704731" cy="2228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GGH mantiene procesos distribuidos entre SAP Business One, planillas Excel, correos electrónicos y seguimientos manuales, dificultando la trazabilidad y aumentando la dependencia de tareas repetitivas.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2482" y="257836"/>
            <a:ext cx="6815369" cy="84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  <a:spcBef>
                <a:spcPct val="0"/>
              </a:spcBef>
            </a:pPr>
            <a:r>
              <a:rPr lang="en-US" b="true" sz="49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Conclusiones del proyecto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28286" y="4337602"/>
            <a:ext cx="7906921" cy="879073"/>
            <a:chOff x="0" y="0"/>
            <a:chExt cx="12565471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6547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565471">
                  <a:moveTo>
                    <a:pt x="0" y="148971"/>
                  </a:moveTo>
                  <a:cubicBezTo>
                    <a:pt x="0" y="66675"/>
                    <a:pt x="78594" y="0"/>
                    <a:pt x="175602" y="0"/>
                  </a:cubicBezTo>
                  <a:lnTo>
                    <a:pt x="12389869" y="0"/>
                  </a:lnTo>
                  <a:cubicBezTo>
                    <a:pt x="12486877" y="0"/>
                    <a:pt x="12565471" y="66675"/>
                    <a:pt x="12565471" y="148971"/>
                  </a:cubicBezTo>
                  <a:lnTo>
                    <a:pt x="12565471" y="1248029"/>
                  </a:lnTo>
                  <a:cubicBezTo>
                    <a:pt x="12565471" y="1330325"/>
                    <a:pt x="12486877" y="1397000"/>
                    <a:pt x="12389869" y="1397000"/>
                  </a:cubicBezTo>
                  <a:lnTo>
                    <a:pt x="175602" y="1397000"/>
                  </a:lnTo>
                  <a:cubicBezTo>
                    <a:pt x="78594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38361" y="4329611"/>
            <a:ext cx="6350265" cy="863090"/>
            <a:chOff x="0" y="0"/>
            <a:chExt cx="10091674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9167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091674">
                  <a:moveTo>
                    <a:pt x="0" y="0"/>
                  </a:moveTo>
                  <a:lnTo>
                    <a:pt x="10091674" y="0"/>
                  </a:lnTo>
                  <a:lnTo>
                    <a:pt x="1009167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87" r="7306" b="-82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9167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 propuesta viable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8286" y="5304583"/>
            <a:ext cx="16531014" cy="1899054"/>
            <a:chOff x="0" y="0"/>
            <a:chExt cx="26270652" cy="30179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270651" cy="3017926"/>
            </a:xfrm>
            <a:custGeom>
              <a:avLst/>
              <a:gdLst/>
              <a:ahLst/>
              <a:cxnLst/>
              <a:rect r="r" b="b" t="t" l="l"/>
              <a:pathLst>
                <a:path h="3017926" w="26270651">
                  <a:moveTo>
                    <a:pt x="0" y="178863"/>
                  </a:moveTo>
                  <a:cubicBezTo>
                    <a:pt x="0" y="80058"/>
                    <a:pt x="163065" y="0"/>
                    <a:pt x="364314" y="0"/>
                  </a:cubicBezTo>
                  <a:lnTo>
                    <a:pt x="25906338" y="0"/>
                  </a:lnTo>
                  <a:cubicBezTo>
                    <a:pt x="26107585" y="0"/>
                    <a:pt x="26270651" y="80058"/>
                    <a:pt x="26270651" y="178863"/>
                  </a:cubicBezTo>
                  <a:lnTo>
                    <a:pt x="26270651" y="2839064"/>
                  </a:lnTo>
                  <a:cubicBezTo>
                    <a:pt x="26270651" y="2937869"/>
                    <a:pt x="26107585" y="3017926"/>
                    <a:pt x="25906338" y="3017926"/>
                  </a:cubicBezTo>
                  <a:lnTo>
                    <a:pt x="364314" y="3017926"/>
                  </a:lnTo>
                  <a:cubicBezTo>
                    <a:pt x="163065" y="3017926"/>
                    <a:pt x="0" y="2937869"/>
                    <a:pt x="0" y="28390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87688" y="5559807"/>
            <a:ext cx="15733111" cy="1388605"/>
            <a:chOff x="0" y="0"/>
            <a:chExt cx="24704731" cy="21804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704731" cy="2180441"/>
            </a:xfrm>
            <a:custGeom>
              <a:avLst/>
              <a:gdLst/>
              <a:ahLst/>
              <a:cxnLst/>
              <a:rect r="r" b="b" t="t" l="l"/>
              <a:pathLst>
                <a:path h="2180441" w="24704731">
                  <a:moveTo>
                    <a:pt x="0" y="0"/>
                  </a:moveTo>
                  <a:lnTo>
                    <a:pt x="24704731" y="0"/>
                  </a:lnTo>
                  <a:lnTo>
                    <a:pt x="24704731" y="2180441"/>
                  </a:lnTo>
                  <a:lnTo>
                    <a:pt x="0" y="2180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15" r="62135" b="172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4704731" cy="2228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plataforma concentrará seis módulos esenciales, se desarrollará mediante Scrum y utilizará recursos disponibles. La integración con SAP podrá validarse mediante el ambiente real o servicios simulados.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8361" y="7221153"/>
            <a:ext cx="7906921" cy="879073"/>
            <a:chOff x="0" y="0"/>
            <a:chExt cx="12565471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6547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565471">
                  <a:moveTo>
                    <a:pt x="0" y="148971"/>
                  </a:moveTo>
                  <a:cubicBezTo>
                    <a:pt x="0" y="66675"/>
                    <a:pt x="78594" y="0"/>
                    <a:pt x="175602" y="0"/>
                  </a:cubicBezTo>
                  <a:lnTo>
                    <a:pt x="12389869" y="0"/>
                  </a:lnTo>
                  <a:cubicBezTo>
                    <a:pt x="12486877" y="0"/>
                    <a:pt x="12565471" y="66675"/>
                    <a:pt x="12565471" y="148971"/>
                  </a:cubicBezTo>
                  <a:lnTo>
                    <a:pt x="12565471" y="1248029"/>
                  </a:lnTo>
                  <a:cubicBezTo>
                    <a:pt x="12565471" y="1330325"/>
                    <a:pt x="12486877" y="1397000"/>
                    <a:pt x="12389869" y="1397000"/>
                  </a:cubicBezTo>
                  <a:lnTo>
                    <a:pt x="175602" y="1397000"/>
                  </a:lnTo>
                  <a:cubicBezTo>
                    <a:pt x="78594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48437" y="7213162"/>
            <a:ext cx="6350265" cy="863090"/>
            <a:chOff x="0" y="0"/>
            <a:chExt cx="10091674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9167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091674">
                  <a:moveTo>
                    <a:pt x="0" y="0"/>
                  </a:moveTo>
                  <a:lnTo>
                    <a:pt x="10091674" y="0"/>
                  </a:lnTo>
                  <a:lnTo>
                    <a:pt x="1009167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87" r="7306" b="-828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09167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 valor verificable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8361" y="8188134"/>
            <a:ext cx="16531014" cy="1899054"/>
            <a:chOff x="0" y="0"/>
            <a:chExt cx="26270652" cy="30179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270651" cy="3017926"/>
            </a:xfrm>
            <a:custGeom>
              <a:avLst/>
              <a:gdLst/>
              <a:ahLst/>
              <a:cxnLst/>
              <a:rect r="r" b="b" t="t" l="l"/>
              <a:pathLst>
                <a:path h="3017926" w="26270651">
                  <a:moveTo>
                    <a:pt x="0" y="178863"/>
                  </a:moveTo>
                  <a:cubicBezTo>
                    <a:pt x="0" y="80058"/>
                    <a:pt x="163065" y="0"/>
                    <a:pt x="364314" y="0"/>
                  </a:cubicBezTo>
                  <a:lnTo>
                    <a:pt x="25906338" y="0"/>
                  </a:lnTo>
                  <a:cubicBezTo>
                    <a:pt x="26107585" y="0"/>
                    <a:pt x="26270651" y="80058"/>
                    <a:pt x="26270651" y="178863"/>
                  </a:cubicBezTo>
                  <a:lnTo>
                    <a:pt x="26270651" y="2839064"/>
                  </a:lnTo>
                  <a:cubicBezTo>
                    <a:pt x="26270651" y="2937869"/>
                    <a:pt x="26107585" y="3017926"/>
                    <a:pt x="25906338" y="3017926"/>
                  </a:cubicBezTo>
                  <a:lnTo>
                    <a:pt x="364314" y="3017926"/>
                  </a:lnTo>
                  <a:cubicBezTo>
                    <a:pt x="163065" y="3017926"/>
                    <a:pt x="0" y="2937869"/>
                    <a:pt x="0" y="28390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97763" y="8443358"/>
            <a:ext cx="15733111" cy="1388605"/>
            <a:chOff x="0" y="0"/>
            <a:chExt cx="24704731" cy="21804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04731" cy="2180441"/>
            </a:xfrm>
            <a:custGeom>
              <a:avLst/>
              <a:gdLst/>
              <a:ahLst/>
              <a:cxnLst/>
              <a:rect r="r" b="b" t="t" l="l"/>
              <a:pathLst>
                <a:path h="2180441" w="24704731">
                  <a:moveTo>
                    <a:pt x="0" y="0"/>
                  </a:moveTo>
                  <a:lnTo>
                    <a:pt x="24704731" y="0"/>
                  </a:lnTo>
                  <a:lnTo>
                    <a:pt x="24704731" y="2180441"/>
                  </a:lnTo>
                  <a:lnTo>
                    <a:pt x="0" y="2180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15" r="62135" b="172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4704731" cy="2228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solución permitirá centralizar solicitudes, registrar responsables y estados, mejorar la trazabilidad y disminuir el uso de herramientas dispersas y accesos directos innecesarios a SAP.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286" y="1463576"/>
            <a:ext cx="7906921" cy="879073"/>
            <a:chOff x="0" y="0"/>
            <a:chExt cx="12565471" cy="139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547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565471">
                  <a:moveTo>
                    <a:pt x="0" y="148971"/>
                  </a:moveTo>
                  <a:cubicBezTo>
                    <a:pt x="0" y="66675"/>
                    <a:pt x="78594" y="0"/>
                    <a:pt x="175602" y="0"/>
                  </a:cubicBezTo>
                  <a:lnTo>
                    <a:pt x="12389869" y="0"/>
                  </a:lnTo>
                  <a:cubicBezTo>
                    <a:pt x="12486877" y="0"/>
                    <a:pt x="12565471" y="66675"/>
                    <a:pt x="12565471" y="148971"/>
                  </a:cubicBezTo>
                  <a:lnTo>
                    <a:pt x="12565471" y="1248029"/>
                  </a:lnTo>
                  <a:cubicBezTo>
                    <a:pt x="12565471" y="1330325"/>
                    <a:pt x="12486877" y="1397000"/>
                    <a:pt x="12389869" y="1397000"/>
                  </a:cubicBezTo>
                  <a:lnTo>
                    <a:pt x="175602" y="1397000"/>
                  </a:lnTo>
                  <a:cubicBezTo>
                    <a:pt x="78594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8361" y="1455584"/>
            <a:ext cx="6350265" cy="863090"/>
            <a:chOff x="0" y="0"/>
            <a:chExt cx="10091674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9167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091674">
                  <a:moveTo>
                    <a:pt x="0" y="0"/>
                  </a:moveTo>
                  <a:lnTo>
                    <a:pt x="10091674" y="0"/>
                  </a:lnTo>
                  <a:lnTo>
                    <a:pt x="1009167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87" r="7306" b="-828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09167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Matí</a:t>
              </a: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 Orellana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286" y="2430557"/>
            <a:ext cx="16531014" cy="1899054"/>
            <a:chOff x="0" y="0"/>
            <a:chExt cx="26270652" cy="30179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70651" cy="3017926"/>
            </a:xfrm>
            <a:custGeom>
              <a:avLst/>
              <a:gdLst/>
              <a:ahLst/>
              <a:cxnLst/>
              <a:rect r="r" b="b" t="t" l="l"/>
              <a:pathLst>
                <a:path h="3017926" w="26270651">
                  <a:moveTo>
                    <a:pt x="0" y="178863"/>
                  </a:moveTo>
                  <a:cubicBezTo>
                    <a:pt x="0" y="80058"/>
                    <a:pt x="163065" y="0"/>
                    <a:pt x="364314" y="0"/>
                  </a:cubicBezTo>
                  <a:lnTo>
                    <a:pt x="25906338" y="0"/>
                  </a:lnTo>
                  <a:cubicBezTo>
                    <a:pt x="26107585" y="0"/>
                    <a:pt x="26270651" y="80058"/>
                    <a:pt x="26270651" y="178863"/>
                  </a:cubicBezTo>
                  <a:lnTo>
                    <a:pt x="26270651" y="2839064"/>
                  </a:lnTo>
                  <a:cubicBezTo>
                    <a:pt x="26270651" y="2937869"/>
                    <a:pt x="26107585" y="3017926"/>
                    <a:pt x="25906338" y="3017926"/>
                  </a:cubicBezTo>
                  <a:lnTo>
                    <a:pt x="364314" y="3017926"/>
                  </a:lnTo>
                  <a:cubicBezTo>
                    <a:pt x="163065" y="3017926"/>
                    <a:pt x="0" y="2937869"/>
                    <a:pt x="0" y="28390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7688" y="2685781"/>
            <a:ext cx="15733111" cy="1388605"/>
            <a:chOff x="0" y="0"/>
            <a:chExt cx="24704731" cy="2180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04731" cy="2180441"/>
            </a:xfrm>
            <a:custGeom>
              <a:avLst/>
              <a:gdLst/>
              <a:ahLst/>
              <a:cxnLst/>
              <a:rect r="r" b="b" t="t" l="l"/>
              <a:pathLst>
                <a:path h="2180441" w="24704731">
                  <a:moveTo>
                    <a:pt x="0" y="0"/>
                  </a:moveTo>
                  <a:lnTo>
                    <a:pt x="24704731" y="0"/>
                  </a:lnTo>
                  <a:lnTo>
                    <a:pt x="24704731" y="2180441"/>
                  </a:lnTo>
                  <a:lnTo>
                    <a:pt x="0" y="2180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15" r="62135" b="17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4704731" cy="2228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proyecto se relaciona con su interés en automatizar procesos, gestionar datos, desarrollar componentes backend e integrar sistemas empresariales.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2482" y="257836"/>
            <a:ext cx="13219302" cy="84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  <a:spcBef>
                <a:spcPct val="0"/>
              </a:spcBef>
            </a:pPr>
            <a:r>
              <a:rPr lang="en-US" b="true" sz="49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Conclusiones individuales y proyección profesional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28286" y="4337602"/>
            <a:ext cx="7906921" cy="879073"/>
            <a:chOff x="0" y="0"/>
            <a:chExt cx="12565471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6547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565471">
                  <a:moveTo>
                    <a:pt x="0" y="148971"/>
                  </a:moveTo>
                  <a:cubicBezTo>
                    <a:pt x="0" y="66675"/>
                    <a:pt x="78594" y="0"/>
                    <a:pt x="175602" y="0"/>
                  </a:cubicBezTo>
                  <a:lnTo>
                    <a:pt x="12389869" y="0"/>
                  </a:lnTo>
                  <a:cubicBezTo>
                    <a:pt x="12486877" y="0"/>
                    <a:pt x="12565471" y="66675"/>
                    <a:pt x="12565471" y="148971"/>
                  </a:cubicBezTo>
                  <a:lnTo>
                    <a:pt x="12565471" y="1248029"/>
                  </a:lnTo>
                  <a:cubicBezTo>
                    <a:pt x="12565471" y="1330325"/>
                    <a:pt x="12486877" y="1397000"/>
                    <a:pt x="12389869" y="1397000"/>
                  </a:cubicBezTo>
                  <a:lnTo>
                    <a:pt x="175602" y="1397000"/>
                  </a:lnTo>
                  <a:cubicBezTo>
                    <a:pt x="78594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F8B31C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38361" y="4329611"/>
            <a:ext cx="6350265" cy="863090"/>
            <a:chOff x="0" y="0"/>
            <a:chExt cx="10091674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9167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091674">
                  <a:moveTo>
                    <a:pt x="0" y="0"/>
                  </a:moveTo>
                  <a:lnTo>
                    <a:pt x="10091674" y="0"/>
                  </a:lnTo>
                  <a:lnTo>
                    <a:pt x="1009167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87" r="7306" b="-82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9167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Mill</a:t>
              </a:r>
              <a:r>
                <a:rPr lang="en-US" sz="28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aray Espósito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8286" y="5304583"/>
            <a:ext cx="16531014" cy="1899054"/>
            <a:chOff x="0" y="0"/>
            <a:chExt cx="26270652" cy="30179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270651" cy="3017926"/>
            </a:xfrm>
            <a:custGeom>
              <a:avLst/>
              <a:gdLst/>
              <a:ahLst/>
              <a:cxnLst/>
              <a:rect r="r" b="b" t="t" l="l"/>
              <a:pathLst>
                <a:path h="3017926" w="26270651">
                  <a:moveTo>
                    <a:pt x="0" y="178863"/>
                  </a:moveTo>
                  <a:cubicBezTo>
                    <a:pt x="0" y="80058"/>
                    <a:pt x="163065" y="0"/>
                    <a:pt x="364314" y="0"/>
                  </a:cubicBezTo>
                  <a:lnTo>
                    <a:pt x="25906338" y="0"/>
                  </a:lnTo>
                  <a:cubicBezTo>
                    <a:pt x="26107585" y="0"/>
                    <a:pt x="26270651" y="80058"/>
                    <a:pt x="26270651" y="178863"/>
                  </a:cubicBezTo>
                  <a:lnTo>
                    <a:pt x="26270651" y="2839064"/>
                  </a:lnTo>
                  <a:cubicBezTo>
                    <a:pt x="26270651" y="2937869"/>
                    <a:pt x="26107585" y="3017926"/>
                    <a:pt x="25906338" y="3017926"/>
                  </a:cubicBezTo>
                  <a:lnTo>
                    <a:pt x="364314" y="3017926"/>
                  </a:lnTo>
                  <a:cubicBezTo>
                    <a:pt x="163065" y="3017926"/>
                    <a:pt x="0" y="2937869"/>
                    <a:pt x="0" y="28390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87688" y="5559807"/>
            <a:ext cx="15733111" cy="1388605"/>
            <a:chOff x="0" y="0"/>
            <a:chExt cx="24704731" cy="21804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704731" cy="2180441"/>
            </a:xfrm>
            <a:custGeom>
              <a:avLst/>
              <a:gdLst/>
              <a:ahLst/>
              <a:cxnLst/>
              <a:rect r="r" b="b" t="t" l="l"/>
              <a:pathLst>
                <a:path h="2180441" w="24704731">
                  <a:moveTo>
                    <a:pt x="0" y="0"/>
                  </a:moveTo>
                  <a:lnTo>
                    <a:pt x="24704731" y="0"/>
                  </a:lnTo>
                  <a:lnTo>
                    <a:pt x="24704731" y="2180441"/>
                  </a:lnTo>
                  <a:lnTo>
                    <a:pt x="0" y="2180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15" r="62135" b="172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4704731" cy="2228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proyecto se relaciona con su interés en comprender a los usuarios, diseñar interfaces claras y validar la calidad mediante criterios de aceptación.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8361" y="7221153"/>
            <a:ext cx="7906921" cy="879073"/>
            <a:chOff x="0" y="0"/>
            <a:chExt cx="12565471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6547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565471">
                  <a:moveTo>
                    <a:pt x="0" y="148971"/>
                  </a:moveTo>
                  <a:cubicBezTo>
                    <a:pt x="0" y="66675"/>
                    <a:pt x="78594" y="0"/>
                    <a:pt x="175602" y="0"/>
                  </a:cubicBezTo>
                  <a:lnTo>
                    <a:pt x="12389869" y="0"/>
                  </a:lnTo>
                  <a:cubicBezTo>
                    <a:pt x="12486877" y="0"/>
                    <a:pt x="12565471" y="66675"/>
                    <a:pt x="12565471" y="148971"/>
                  </a:cubicBezTo>
                  <a:lnTo>
                    <a:pt x="12565471" y="1248029"/>
                  </a:lnTo>
                  <a:cubicBezTo>
                    <a:pt x="12565471" y="1330325"/>
                    <a:pt x="12486877" y="1397000"/>
                    <a:pt x="12389869" y="1397000"/>
                  </a:cubicBezTo>
                  <a:lnTo>
                    <a:pt x="175602" y="1397000"/>
                  </a:lnTo>
                  <a:cubicBezTo>
                    <a:pt x="78594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002138"/>
            </a:solidFill>
            <a:ln w="19050" cap="sq">
              <a:solidFill>
                <a:srgbClr val="00213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48437" y="7213162"/>
            <a:ext cx="6350265" cy="863090"/>
            <a:chOff x="0" y="0"/>
            <a:chExt cx="10091674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9167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091674">
                  <a:moveTo>
                    <a:pt x="0" y="0"/>
                  </a:moveTo>
                  <a:lnTo>
                    <a:pt x="10091674" y="0"/>
                  </a:lnTo>
                  <a:lnTo>
                    <a:pt x="1009167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87" r="7306" b="-828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09167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Alexssa</a:t>
              </a: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nder López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8361" y="8188134"/>
            <a:ext cx="16531014" cy="1899054"/>
            <a:chOff x="0" y="0"/>
            <a:chExt cx="26270652" cy="30179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270651" cy="3017926"/>
            </a:xfrm>
            <a:custGeom>
              <a:avLst/>
              <a:gdLst/>
              <a:ahLst/>
              <a:cxnLst/>
              <a:rect r="r" b="b" t="t" l="l"/>
              <a:pathLst>
                <a:path h="3017926" w="26270651">
                  <a:moveTo>
                    <a:pt x="0" y="178863"/>
                  </a:moveTo>
                  <a:cubicBezTo>
                    <a:pt x="0" y="80058"/>
                    <a:pt x="163065" y="0"/>
                    <a:pt x="364314" y="0"/>
                  </a:cubicBezTo>
                  <a:lnTo>
                    <a:pt x="25906338" y="0"/>
                  </a:lnTo>
                  <a:cubicBezTo>
                    <a:pt x="26107585" y="0"/>
                    <a:pt x="26270651" y="80058"/>
                    <a:pt x="26270651" y="178863"/>
                  </a:cubicBezTo>
                  <a:lnTo>
                    <a:pt x="26270651" y="2839064"/>
                  </a:lnTo>
                  <a:cubicBezTo>
                    <a:pt x="26270651" y="2937869"/>
                    <a:pt x="26107585" y="3017926"/>
                    <a:pt x="25906338" y="3017926"/>
                  </a:cubicBezTo>
                  <a:lnTo>
                    <a:pt x="364314" y="3017926"/>
                  </a:lnTo>
                  <a:cubicBezTo>
                    <a:pt x="163065" y="3017926"/>
                    <a:pt x="0" y="2937869"/>
                    <a:pt x="0" y="28390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97763" y="8443358"/>
            <a:ext cx="15733111" cy="1388605"/>
            <a:chOff x="0" y="0"/>
            <a:chExt cx="24704731" cy="21804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04731" cy="2180441"/>
            </a:xfrm>
            <a:custGeom>
              <a:avLst/>
              <a:gdLst/>
              <a:ahLst/>
              <a:cxnLst/>
              <a:rect r="r" b="b" t="t" l="l"/>
              <a:pathLst>
                <a:path h="2180441" w="24704731">
                  <a:moveTo>
                    <a:pt x="0" y="0"/>
                  </a:moveTo>
                  <a:lnTo>
                    <a:pt x="24704731" y="0"/>
                  </a:lnTo>
                  <a:lnTo>
                    <a:pt x="24704731" y="2180441"/>
                  </a:lnTo>
                  <a:lnTo>
                    <a:pt x="0" y="2180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15" r="62135" b="172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4704731" cy="2228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0021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proyecto se relaciona con su interés en las reglas de negocio, el modelamiento de datos y la comunicación controlada entre la plataforma y SAP.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723" b="-307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6866381"/>
            <a:ext cx="11532226" cy="5420146"/>
          </a:xfrm>
          <a:custGeom>
            <a:avLst/>
            <a:gdLst/>
            <a:ahLst/>
            <a:cxnLst/>
            <a:rect r="r" b="b" t="t" l="l"/>
            <a:pathLst>
              <a:path h="5420146" w="11532226">
                <a:moveTo>
                  <a:pt x="0" y="5420147"/>
                </a:moveTo>
                <a:lnTo>
                  <a:pt x="11532226" y="5420147"/>
                </a:lnTo>
                <a:lnTo>
                  <a:pt x="11532226" y="0"/>
                </a:lnTo>
                <a:lnTo>
                  <a:pt x="0" y="0"/>
                </a:lnTo>
                <a:lnTo>
                  <a:pt x="0" y="542014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264665" y="237208"/>
            <a:ext cx="1272323" cy="1582983"/>
          </a:xfrm>
          <a:custGeom>
            <a:avLst/>
            <a:gdLst/>
            <a:ahLst/>
            <a:cxnLst/>
            <a:rect r="r" b="b" t="t" l="l"/>
            <a:pathLst>
              <a:path h="1582983" w="1272323">
                <a:moveTo>
                  <a:pt x="0" y="0"/>
                </a:moveTo>
                <a:lnTo>
                  <a:pt x="1272322" y="0"/>
                </a:lnTo>
                <a:lnTo>
                  <a:pt x="1272322" y="1582984"/>
                </a:lnTo>
                <a:lnTo>
                  <a:pt x="0" y="1582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294973"/>
            <a:ext cx="9672662" cy="213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71"/>
              </a:lnSpc>
            </a:pPr>
            <a:r>
              <a:rPr lang="en-US" b="true" sz="148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DAHTlpmwQVQ</dc:identifier>
  <dcterms:modified xsi:type="dcterms:W3CDTF">2011-08-01T06:04:30Z</dcterms:modified>
  <cp:revision>1</cp:revision>
  <dc:title>Presentación Proyecto.pptx</dc:title>
</cp:coreProperties>
</file>